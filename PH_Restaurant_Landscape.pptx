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3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4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5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Distinct food types</c:v>
                </c:pt>
              </c:strCache>
            </c:strRef>
          </c:tx>
          <c:spPr>
            <a:solidFill>
              <a:srgbClr val="B8504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2B1B1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Sheet1!$A$2:$A$19</c:f>
              <c:multiLvlStrCache>
                <c:ptCount val="18"/>
                <c:lvl>
                  <c:pt idx="0">
                    <c:v>Valencia</c:v>
                  </c:pt>
                  <c:pt idx="1">
                    <c:v>Ormoc</c:v>
                  </c:pt>
                  <c:pt idx="2">
                    <c:v>Koronadal</c:v>
                  </c:pt>
                  <c:pt idx="3">
                    <c:v>Dagupan</c:v>
                  </c:pt>
                  <c:pt idx="4">
                    <c:v>Malolos</c:v>
                  </c:pt>
                  <c:pt idx="5">
                    <c:v>San Juan City</c:v>
                  </c:pt>
                  <c:pt idx="6">
                    <c:v>Lapu-Lapu City</c:v>
                  </c:pt>
                  <c:pt idx="7">
                    <c:v>Muntinlupa City</c:v>
                  </c:pt>
                  <c:pt idx="8">
                    <c:v>Pasig City</c:v>
                  </c:pt>
                  <c:pt idx="9">
                    <c:v>Taguig City</c:v>
                  </c:pt>
                  <c:pt idx="10">
                    <c:v>Marikina City</c:v>
                  </c:pt>
                  <c:pt idx="11">
                    <c:v>Mandaluyong City</c:v>
                  </c:pt>
                  <c:pt idx="12">
                    <c:v>Cebu City</c:v>
                  </c:pt>
                  <c:pt idx="13">
                    <c:v>Makati City</c:v>
                  </c:pt>
                  <c:pt idx="14">
                    <c:v>Pasay City</c:v>
                  </c:pt>
                  <c:pt idx="15">
                    <c:v>Manila</c:v>
                  </c:pt>
                  <c:pt idx="16">
                    <c:v>Davao City</c:v>
                  </c:pt>
                  <c:pt idx="17">
                    <c:v>Quezon City</c:v>
                  </c:pt>
                </c:lvl>
              </c:multiLvlStrCache>
            </c:multiLvlStrRef>
          </c:cat>
          <c:val>
            <c:numRef>
              <c:f>Sheet1!$B$2:$B$19</c:f>
              <c:numCache>
                <c:formatCode>General</c:formatCode>
                <c:ptCount val="18"/>
                <c:pt idx="0">
                  <c:v>26</c:v>
                </c:pt>
                <c:pt idx="1">
                  <c:v>27</c:v>
                </c:pt>
                <c:pt idx="2">
                  <c:v>37</c:v>
                </c:pt>
                <c:pt idx="3">
                  <c:v>39</c:v>
                </c:pt>
                <c:pt idx="4">
                  <c:v>49</c:v>
                </c:pt>
                <c:pt idx="5">
                  <c:v>51</c:v>
                </c:pt>
                <c:pt idx="6">
                  <c:v>53</c:v>
                </c:pt>
                <c:pt idx="7">
                  <c:v>56</c:v>
                </c:pt>
                <c:pt idx="8">
                  <c:v>58</c:v>
                </c:pt>
                <c:pt idx="9">
                  <c:v>58</c:v>
                </c:pt>
                <c:pt idx="10">
                  <c:v>59</c:v>
                </c:pt>
                <c:pt idx="11">
                  <c:v>59</c:v>
                </c:pt>
                <c:pt idx="12">
                  <c:v>60</c:v>
                </c:pt>
                <c:pt idx="13">
                  <c:v>61</c:v>
                </c:pt>
                <c:pt idx="14">
                  <c:v>61</c:v>
                </c:pt>
                <c:pt idx="15">
                  <c:v>62</c:v>
                </c:pt>
                <c:pt idx="16">
                  <c:v>62</c:v>
                </c:pt>
                <c:pt idx="17">
                  <c:v>63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2B1B17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2B1B1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0"/>
          <c:min val="0"/>
        </c:scaling>
        <c:delete val="0"/>
        <c:axPos val="b"/>
        <c:majorGridlines>
          <c:spPr>
            <a:ln w="9525" cap="flat">
              <a:solidFill>
                <a:srgbClr val="EBEBE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6E5C55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6E5C55"/>
                    </a:solidFill>
                    <a:latin typeface="Arial"/>
                  </a:rPr>
                  <a:t>Number of distinct food-type categories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2B1B17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Average rating</c:v>
                </c:pt>
              </c:strCache>
            </c:strRef>
          </c:tx>
          <c:spPr>
            <a:solidFill>
              <a:srgbClr val="B85042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2B1B1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Sheet1!$A$2:$A$19</c:f>
              <c:multiLvlStrCache>
                <c:ptCount val="18"/>
                <c:lvl>
                  <c:pt idx="0">
                    <c:v>Davao City</c:v>
                  </c:pt>
                  <c:pt idx="1">
                    <c:v>Dagupan</c:v>
                  </c:pt>
                  <c:pt idx="2">
                    <c:v>Koronadal</c:v>
                  </c:pt>
                  <c:pt idx="3">
                    <c:v>Quezon City</c:v>
                  </c:pt>
                  <c:pt idx="4">
                    <c:v>Mandaluyong City</c:v>
                  </c:pt>
                  <c:pt idx="5">
                    <c:v>Manila</c:v>
                  </c:pt>
                  <c:pt idx="6">
                    <c:v>Pasay City</c:v>
                  </c:pt>
                  <c:pt idx="7">
                    <c:v>San Juan City</c:v>
                  </c:pt>
                  <c:pt idx="8">
                    <c:v>Cebu City</c:v>
                  </c:pt>
                  <c:pt idx="9">
                    <c:v>Malolos</c:v>
                  </c:pt>
                  <c:pt idx="10">
                    <c:v>Taguig City</c:v>
                  </c:pt>
                  <c:pt idx="11">
                    <c:v>Lapu-Lapu City</c:v>
                  </c:pt>
                  <c:pt idx="12">
                    <c:v>Makati City</c:v>
                  </c:pt>
                  <c:pt idx="13">
                    <c:v>Muntinlupa City</c:v>
                  </c:pt>
                  <c:pt idx="14">
                    <c:v>Pasig City</c:v>
                  </c:pt>
                  <c:pt idx="15">
                    <c:v>Ormoc</c:v>
                  </c:pt>
                  <c:pt idx="16">
                    <c:v>Valencia</c:v>
                  </c:pt>
                  <c:pt idx="17">
                    <c:v>Marikina City</c:v>
                  </c:pt>
                </c:lvl>
              </c:multiLvlStrCache>
            </c:multiLvlStrRef>
          </c:cat>
          <c:val>
            <c:numRef>
              <c:f>Sheet1!$B$2:$B$19</c:f>
              <c:numCache>
                <c:formatCode>General</c:formatCode>
                <c:ptCount val="18"/>
                <c:pt idx="0">
                  <c:v>4.87</c:v>
                </c:pt>
                <c:pt idx="1">
                  <c:v>4.9</c:v>
                </c:pt>
                <c:pt idx="2">
                  <c:v>4.91</c:v>
                </c:pt>
                <c:pt idx="3">
                  <c:v>4.92</c:v>
                </c:pt>
                <c:pt idx="4">
                  <c:v>4.92</c:v>
                </c:pt>
                <c:pt idx="5">
                  <c:v>4.92</c:v>
                </c:pt>
                <c:pt idx="6">
                  <c:v>4.92</c:v>
                </c:pt>
                <c:pt idx="7">
                  <c:v>4.92</c:v>
                </c:pt>
                <c:pt idx="8">
                  <c:v>4.92</c:v>
                </c:pt>
                <c:pt idx="9">
                  <c:v>4.92</c:v>
                </c:pt>
                <c:pt idx="10">
                  <c:v>4.93</c:v>
                </c:pt>
                <c:pt idx="11">
                  <c:v>4.93</c:v>
                </c:pt>
                <c:pt idx="12">
                  <c:v>4.93</c:v>
                </c:pt>
                <c:pt idx="13">
                  <c:v>4.93</c:v>
                </c:pt>
                <c:pt idx="14">
                  <c:v>4.93</c:v>
                </c:pt>
                <c:pt idx="15">
                  <c:v>4.94</c:v>
                </c:pt>
                <c:pt idx="16">
                  <c:v>4.95</c:v>
                </c:pt>
                <c:pt idx="17">
                  <c:v>4.96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800" u="none">
                  <a:solidFill>
                    <a:srgbClr val="2B1B17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2B1B1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"/>
          <c:min val="0"/>
        </c:scaling>
        <c:delete val="0"/>
        <c:axPos val="b"/>
        <c:majorGridlines>
          <c:spPr>
            <a:ln w="9525" cap="flat">
              <a:solidFill>
                <a:srgbClr val="EBEBE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6E5C55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6E5C55"/>
                    </a:solidFill>
                    <a:latin typeface="Arial"/>
                  </a:rPr>
                  <a:t>Average rating, out of 5 (rated listings only)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2B1B17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Average rating</c:v>
                </c:pt>
              </c:strCache>
            </c:strRef>
          </c:tx>
          <c:spPr>
            <a:solidFill>
              <a:srgbClr val="D9A441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2B1B1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Dumpling</c:v>
                  </c:pt>
                  <c:pt idx="1">
                    <c:v>Beverages</c:v>
                  </c:pt>
                  <c:pt idx="2">
                    <c:v>Sushi</c:v>
                  </c:pt>
                  <c:pt idx="3">
                    <c:v>Pancakes &amp; Waffles</c:v>
                  </c:pt>
                  <c:pt idx="4">
                    <c:v>Pancit</c:v>
                  </c:pt>
                  <c:pt idx="5">
                    <c:v>Fruit Shake</c:v>
                  </c:pt>
                  <c:pt idx="6">
                    <c:v>Halo-Halo</c:v>
                  </c:pt>
                  <c:pt idx="7">
                    <c:v>Donut</c:v>
                  </c:pt>
                  <c:pt idx="8">
                    <c:v>Bread</c:v>
                  </c:pt>
                  <c:pt idx="9">
                    <c:v>Cakes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4.95</c:v>
                </c:pt>
                <c:pt idx="1">
                  <c:v>4.95</c:v>
                </c:pt>
                <c:pt idx="2">
                  <c:v>4.96</c:v>
                </c:pt>
                <c:pt idx="3">
                  <c:v>4.96</c:v>
                </c:pt>
                <c:pt idx="4">
                  <c:v>4.96</c:v>
                </c:pt>
                <c:pt idx="5">
                  <c:v>4.96</c:v>
                </c:pt>
                <c:pt idx="6">
                  <c:v>4.97</c:v>
                </c:pt>
                <c:pt idx="7">
                  <c:v>4.97</c:v>
                </c:pt>
                <c:pt idx="8">
                  <c:v>4.97</c:v>
                </c:pt>
                <c:pt idx="9">
                  <c:v>4.98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900" u="none">
                  <a:solidFill>
                    <a:srgbClr val="2B1B17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2B1B1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"/>
          <c:min val="0"/>
        </c:scaling>
        <c:delete val="0"/>
        <c:axPos val="b"/>
        <c:majorGridlines>
          <c:spPr>
            <a:ln w="9525" cap="flat">
              <a:solidFill>
                <a:srgbClr val="EBEB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2B1B17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Listings</c:v>
                </c:pt>
              </c:strCache>
            </c:strRef>
          </c:tx>
          <c:spPr>
            <a:solidFill>
              <a:srgbClr val="B8504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2B1B1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Sheet1!$A$2:$A$19</c:f>
              <c:multiLvlStrCache>
                <c:ptCount val="18"/>
                <c:lvl>
                  <c:pt idx="0">
                    <c:v>Valencia</c:v>
                  </c:pt>
                  <c:pt idx="1">
                    <c:v>Ormoc</c:v>
                  </c:pt>
                  <c:pt idx="2">
                    <c:v>Koronadal</c:v>
                  </c:pt>
                  <c:pt idx="3">
                    <c:v>Dagupan</c:v>
                  </c:pt>
                  <c:pt idx="4">
                    <c:v>Malolos</c:v>
                  </c:pt>
                  <c:pt idx="5">
                    <c:v>Lapu-Lapu City</c:v>
                  </c:pt>
                  <c:pt idx="6">
                    <c:v>San Juan City</c:v>
                  </c:pt>
                  <c:pt idx="7">
                    <c:v>Muntinlupa City</c:v>
                  </c:pt>
                  <c:pt idx="8">
                    <c:v>Marikina City</c:v>
                  </c:pt>
                  <c:pt idx="9">
                    <c:v>Pasay City</c:v>
                  </c:pt>
                  <c:pt idx="10">
                    <c:v>Mandaluyong City</c:v>
                  </c:pt>
                  <c:pt idx="11">
                    <c:v>Pasig City</c:v>
                  </c:pt>
                  <c:pt idx="12">
                    <c:v>Taguig City</c:v>
                  </c:pt>
                  <c:pt idx="13">
                    <c:v>Davao City</c:v>
                  </c:pt>
                  <c:pt idx="14">
                    <c:v>Cebu City</c:v>
                  </c:pt>
                  <c:pt idx="15">
                    <c:v>Makati City</c:v>
                  </c:pt>
                  <c:pt idx="16">
                    <c:v>Manila</c:v>
                  </c:pt>
                  <c:pt idx="17">
                    <c:v>Quezon City</c:v>
                  </c:pt>
                </c:lvl>
              </c:multiLvlStrCache>
            </c:multiLvlStrRef>
          </c:cat>
          <c:val>
            <c:numRef>
              <c:f>Sheet1!$B$2:$B$19</c:f>
              <c:numCache>
                <c:formatCode>General</c:formatCode>
                <c:ptCount val="18"/>
                <c:pt idx="0">
                  <c:v>60</c:v>
                </c:pt>
                <c:pt idx="1">
                  <c:v>85</c:v>
                </c:pt>
                <c:pt idx="2">
                  <c:v>155</c:v>
                </c:pt>
                <c:pt idx="3">
                  <c:v>177</c:v>
                </c:pt>
                <c:pt idx="4">
                  <c:v>348</c:v>
                </c:pt>
                <c:pt idx="5">
                  <c:v>353</c:v>
                </c:pt>
                <c:pt idx="6">
                  <c:v>354</c:v>
                </c:pt>
                <c:pt idx="7">
                  <c:v>479</c:v>
                </c:pt>
                <c:pt idx="8">
                  <c:v>547</c:v>
                </c:pt>
                <c:pt idx="9">
                  <c:v>563</c:v>
                </c:pt>
                <c:pt idx="10">
                  <c:v>662</c:v>
                </c:pt>
                <c:pt idx="11">
                  <c:v>767</c:v>
                </c:pt>
                <c:pt idx="12">
                  <c:v>792</c:v>
                </c:pt>
                <c:pt idx="13">
                  <c:v>1172</c:v>
                </c:pt>
                <c:pt idx="14">
                  <c:v>1188</c:v>
                </c:pt>
                <c:pt idx="15">
                  <c:v>1210</c:v>
                </c:pt>
                <c:pt idx="16">
                  <c:v>1286</c:v>
                </c:pt>
                <c:pt idx="17">
                  <c:v>2211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2B1B17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2B1B1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500"/>
          <c:min val="0"/>
        </c:scaling>
        <c:delete val="0"/>
        <c:axPos val="b"/>
        <c:majorGridlines>
          <c:spPr>
            <a:ln w="9525" cap="flat">
              <a:solidFill>
                <a:srgbClr val="EBEBE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6E5C55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6E5C55"/>
                    </a:solidFill>
                    <a:latin typeface="Arial"/>
                  </a:rPr>
                  <a:t>Number of listings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2B1B17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Listings</c:v>
                </c:pt>
              </c:strCache>
            </c:strRef>
          </c:tx>
          <c:spPr>
            <a:solidFill>
              <a:srgbClr val="7C988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2B1B1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Sheet1!$A$2:$A$16</c:f>
              <c:multiLvlStrCache>
                <c:ptCount val="15"/>
                <c:lvl>
                  <c:pt idx="0">
                    <c:v>Burgers</c:v>
                  </c:pt>
                  <c:pt idx="1">
                    <c:v>Desserts</c:v>
                  </c:pt>
                  <c:pt idx="2">
                    <c:v>Chinese</c:v>
                  </c:pt>
                  <c:pt idx="3">
                    <c:v>Fried Chicken</c:v>
                  </c:pt>
                  <c:pt idx="4">
                    <c:v>Korean</c:v>
                  </c:pt>
                  <c:pt idx="5">
                    <c:v>American</c:v>
                  </c:pt>
                  <c:pt idx="6">
                    <c:v>Asian</c:v>
                  </c:pt>
                  <c:pt idx="7">
                    <c:v>Cakes</c:v>
                  </c:pt>
                  <c:pt idx="8">
                    <c:v>Pizza</c:v>
                  </c:pt>
                  <c:pt idx="9">
                    <c:v>Japanese</c:v>
                  </c:pt>
                  <c:pt idx="10">
                    <c:v>Beverages</c:v>
                  </c:pt>
                  <c:pt idx="11">
                    <c:v>Chicken</c:v>
                  </c:pt>
                  <c:pt idx="12">
                    <c:v>Milk Tea</c:v>
                  </c:pt>
                  <c:pt idx="13">
                    <c:v>Coffee</c:v>
                  </c:pt>
                  <c:pt idx="14">
                    <c:v>Filipino</c:v>
                  </c:pt>
                </c:lvl>
              </c:multiLvlStrCache>
            </c:multiLvl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249</c:v>
                </c:pt>
                <c:pt idx="1">
                  <c:v>259</c:v>
                </c:pt>
                <c:pt idx="2">
                  <c:v>270</c:v>
                </c:pt>
                <c:pt idx="3">
                  <c:v>271</c:v>
                </c:pt>
                <c:pt idx="4">
                  <c:v>281</c:v>
                </c:pt>
                <c:pt idx="5">
                  <c:v>320</c:v>
                </c:pt>
                <c:pt idx="6">
                  <c:v>370</c:v>
                </c:pt>
                <c:pt idx="7">
                  <c:v>411</c:v>
                </c:pt>
                <c:pt idx="8">
                  <c:v>465</c:v>
                </c:pt>
                <c:pt idx="9">
                  <c:v>487</c:v>
                </c:pt>
                <c:pt idx="10">
                  <c:v>568</c:v>
                </c:pt>
                <c:pt idx="11">
                  <c:v>616</c:v>
                </c:pt>
                <c:pt idx="12">
                  <c:v>791</c:v>
                </c:pt>
                <c:pt idx="13">
                  <c:v>992</c:v>
                </c:pt>
                <c:pt idx="14">
                  <c:v>1657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2B1B17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2B1B1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800"/>
          <c:min val="0"/>
        </c:scaling>
        <c:delete val="0"/>
        <c:axPos val="b"/>
        <c:majorGridlines>
          <c:spPr>
            <a:ln w="9525" cap="flat">
              <a:solidFill>
                <a:srgbClr val="EBEBE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6E5C55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6E5C55"/>
                    </a:solidFill>
                    <a:latin typeface="Arial"/>
                  </a:rPr>
                  <a:t>Number of listings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2B1B17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1B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1828800"/>
            <a:ext cx="5943600" cy="5943600"/>
          </a:xfrm>
          <a:prstGeom prst="ellipse">
            <a:avLst/>
          </a:prstGeom>
          <a:solidFill>
            <a:srgbClr val="8A3B31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B85042">
              <a:alpha val="6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645920" y="4937760"/>
            <a:ext cx="3291840" cy="3291840"/>
          </a:xfrm>
          <a:prstGeom prst="ellipse">
            <a:avLst/>
          </a:prstGeom>
          <a:solidFill>
            <a:srgbClr val="7C9885">
              <a:alpha val="35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41732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 ANALYTICS PRESENTATION  ·  FOODPANDA RESTAURANT LISTINGS, 2025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874520"/>
            <a:ext cx="96012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8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Mapping the Philippine</a:t>
            </a:r>
            <a:endParaRPr lang="en-US" sz="4400" dirty="0"/>
          </a:p>
          <a:p>
            <a:pPr indent="0" marL="0">
              <a:lnSpc>
                <a:spcPts val="48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Restaurant Landscape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886200"/>
            <a:ext cx="8503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50" i="1" dirty="0">
                <a:solidFill>
                  <a:srgbClr val="E8D9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Food-Type Diversity, Customer Engagement, and the Distribution of</a:t>
            </a:r>
            <a:endParaRPr lang="en-US" sz="15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550" i="1" dirty="0">
                <a:solidFill>
                  <a:srgbClr val="E8D9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 Listings Across Selected Philippine Cities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822960" y="5074920"/>
            <a:ext cx="1097280" cy="0"/>
          </a:xfrm>
          <a:prstGeom prst="line">
            <a:avLst/>
          </a:prstGeom>
          <a:noFill/>
          <a:ln w="38100">
            <a:solidFill>
              <a:srgbClr val="B8504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52578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12,409 restaurant listings  ·  18 cities  ·  68 food-type categories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1B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Walk Through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2578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9DCD5"/>
            </a:solidFill>
            <a:prstDash val="solid"/>
          </a:ln>
          <a:effectLst>
            <a:outerShdw sx="100000" sy="100000" kx="0" ky="0" algn="bl" rotWithShape="0" blurRad="101600" dist="38100" dir="5400000">
              <a:srgbClr val="3D2B26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77240" y="1901952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BDAD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1920240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B1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 &amp; Objectives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2359152"/>
            <a:ext cx="3977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E5C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dataset, and what we set out to answer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63640" y="1737360"/>
            <a:ext cx="52578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9DCD5"/>
            </a:solidFill>
            <a:prstDash val="solid"/>
          </a:ln>
          <a:effectLst>
            <a:outerShdw sx="100000" sy="100000" kx="0" ky="0" algn="bl" rotWithShape="0" blurRad="101600" dist="38100" dir="5400000">
              <a:srgbClr val="3D2B26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492240" y="1901952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BDAD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7315200" y="1920240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B1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Data Cleaning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7315200" y="2359152"/>
            <a:ext cx="3977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E5C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Foodpanda export to an analysis-ready table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291840"/>
            <a:ext cx="52578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9DCD5"/>
            </a:solidFill>
            <a:prstDash val="solid"/>
          </a:ln>
          <a:effectLst>
            <a:outerShdw sx="100000" sy="100000" kx="0" ky="0" algn="bl" rotWithShape="0" blurRad="101600" dist="38100" dir="5400000">
              <a:srgbClr val="3D2B26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777240" y="3456432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BDAD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1600200" y="3474720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B1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Food-Type Diversity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1600200" y="3913632"/>
            <a:ext cx="3977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E5C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varied is each city's restaurant scene?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63640" y="3291840"/>
            <a:ext cx="52578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9DCD5"/>
            </a:solidFill>
            <a:prstDash val="solid"/>
          </a:ln>
          <a:effectLst>
            <a:outerShdw sx="100000" sy="100000" kx="0" ky="0" algn="bl" rotWithShape="0" blurRad="101600" dist="38100" dir="5400000">
              <a:srgbClr val="3D2B26">
                <a:alpha val="1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6492240" y="3456432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BDAD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000" dirty="0"/>
          </a:p>
        </p:txBody>
      </p:sp>
      <p:sp>
        <p:nvSpPr>
          <p:cNvPr id="18" name="Text 16"/>
          <p:cNvSpPr txBox="1"/>
          <p:nvPr/>
        </p:nvSpPr>
        <p:spPr>
          <a:xfrm>
            <a:off x="7315200" y="3474720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B1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Engagement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7315200" y="3913632"/>
            <a:ext cx="3977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E5C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Ratings and reviewer activity across cities &amp; food types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4846320"/>
            <a:ext cx="52578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9DCD5"/>
            </a:solidFill>
            <a:prstDash val="solid"/>
          </a:ln>
          <a:effectLst>
            <a:outerShdw sx="100000" sy="100000" kx="0" ky="0" algn="bl" rotWithShape="0" blurRad="101600" dist="38100" dir="5400000">
              <a:srgbClr val="3D2B26">
                <a:alpha val="12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777240" y="5010912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BDAD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3000" dirty="0"/>
          </a:p>
        </p:txBody>
      </p:sp>
      <p:sp>
        <p:nvSpPr>
          <p:cNvPr id="22" name="Text 20"/>
          <p:cNvSpPr txBox="1"/>
          <p:nvPr/>
        </p:nvSpPr>
        <p:spPr>
          <a:xfrm>
            <a:off x="1600200" y="5029200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B1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Listing Distribution</a:t>
            </a:r>
            <a:endParaRPr lang="en-US" sz="1450" dirty="0"/>
          </a:p>
        </p:txBody>
      </p:sp>
      <p:sp>
        <p:nvSpPr>
          <p:cNvPr id="23" name="Text 21"/>
          <p:cNvSpPr txBox="1"/>
          <p:nvPr/>
        </p:nvSpPr>
        <p:spPr>
          <a:xfrm>
            <a:off x="1600200" y="5468112"/>
            <a:ext cx="3977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E5C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are restaurants concentrated?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263640" y="4846320"/>
            <a:ext cx="52578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9DCD5"/>
            </a:solidFill>
            <a:prstDash val="solid"/>
          </a:ln>
          <a:effectLst>
            <a:outerShdw sx="100000" sy="100000" kx="0" ky="0" algn="bl" rotWithShape="0" blurRad="101600" dist="38100" dir="5400000">
              <a:srgbClr val="3D2B26">
                <a:alpha val="12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6492240" y="5010912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BDAD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3000" dirty="0"/>
          </a:p>
        </p:txBody>
      </p:sp>
      <p:sp>
        <p:nvSpPr>
          <p:cNvPr id="26" name="Text 24"/>
          <p:cNvSpPr txBox="1"/>
          <p:nvPr/>
        </p:nvSpPr>
        <p:spPr>
          <a:xfrm>
            <a:off x="7315200" y="5029200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B1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Relationships &amp; Statistical Check</a:t>
            </a:r>
            <a:endParaRPr lang="en-US" sz="1450" dirty="0"/>
          </a:p>
        </p:txBody>
      </p:sp>
      <p:sp>
        <p:nvSpPr>
          <p:cNvPr id="27" name="Text 25"/>
          <p:cNvSpPr txBox="1"/>
          <p:nvPr/>
        </p:nvSpPr>
        <p:spPr>
          <a:xfrm>
            <a:off x="7315200" y="5468112"/>
            <a:ext cx="3977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E5C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Ratings vs. reviewers, and honesty about limits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1505895" y="640080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7A7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846320"/>
            <a:ext cx="3840480" cy="3840480"/>
          </a:xfrm>
          <a:prstGeom prst="ellipse">
            <a:avLst/>
          </a:prstGeom>
          <a:solidFill>
            <a:srgbClr val="8A3B31">
              <a:alpha val="5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02920" y="2468880"/>
            <a:ext cx="31089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GENERAL</a:t>
            </a:r>
            <a:endParaRPr lang="en-US" sz="3000" dirty="0"/>
          </a:p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4572000" y="1828800"/>
            <a:ext cx="704088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000" dirty="0">
                <a:solidFill>
                  <a:srgbClr val="2B1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analyze the Philippine restaurant landscape across selected cities by examining food-type diversity, customer engagement, and the distribution of restaurant listings — using a dataset of Foodpanda restaurant listings collected in 2025.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0" y="1371600"/>
            <a:ext cx="822960" cy="0"/>
          </a:xfrm>
          <a:prstGeom prst="line">
            <a:avLst/>
          </a:prstGeom>
          <a:noFill/>
          <a:ln w="38100">
            <a:solidFill>
              <a:srgbClr val="D9A44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505895" y="640080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7A7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 OBJECTIVES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B1B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Objectives Guiding the Analysis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49240" cy="1298448"/>
          </a:xfrm>
          <a:prstGeom prst="roundRect">
            <a:avLst>
              <a:gd name="adj" fmla="val 4930"/>
            </a:avLst>
          </a:prstGeom>
          <a:solidFill>
            <a:srgbClr val="FFFFFF"/>
          </a:solidFill>
          <a:ln w="12700">
            <a:solidFill>
              <a:srgbClr val="EFE1D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" y="1764792"/>
            <a:ext cx="384048" cy="384048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13232" y="176479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1691640"/>
            <a:ext cx="4480560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2B1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Assess, clean, and prepare the dataset — missing FoodType values, inconsistent text, repeated identifiers, unrated listings, and reviewer-count outliers — with every decision documented.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309360" y="1600200"/>
            <a:ext cx="5349240" cy="1298448"/>
          </a:xfrm>
          <a:prstGeom prst="roundRect">
            <a:avLst>
              <a:gd name="adj" fmla="val 4930"/>
            </a:avLst>
          </a:prstGeom>
          <a:solidFill>
            <a:srgbClr val="FFFFFF"/>
          </a:solidFill>
          <a:ln w="12700">
            <a:solidFill>
              <a:srgbClr val="EFE1D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73952" y="1764792"/>
            <a:ext cx="384048" cy="384048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73952" y="176479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995160" y="1691640"/>
            <a:ext cx="4480560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2B1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Quantify and compare food-type diversity across cities via the number of unique FoodType categories and their proportional representation.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3026664"/>
            <a:ext cx="5349240" cy="1298448"/>
          </a:xfrm>
          <a:prstGeom prst="roundRect">
            <a:avLst>
              <a:gd name="adj" fmla="val 4930"/>
            </a:avLst>
          </a:prstGeom>
          <a:solidFill>
            <a:srgbClr val="FFFFFF"/>
          </a:solidFill>
          <a:ln w="12700">
            <a:solidFill>
              <a:srgbClr val="EFE1D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3191256"/>
            <a:ext cx="384048" cy="384048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13232" y="319125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3118104"/>
            <a:ext cx="4480560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2B1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 customer engagement by analyzing reviewer counts and average ratings among rated listings, across cities and food types.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309360" y="3026664"/>
            <a:ext cx="5349240" cy="1298448"/>
          </a:xfrm>
          <a:prstGeom prst="roundRect">
            <a:avLst>
              <a:gd name="adj" fmla="val 4930"/>
            </a:avLst>
          </a:prstGeom>
          <a:solidFill>
            <a:srgbClr val="FFFFFF"/>
          </a:solidFill>
          <a:ln w="12700">
            <a:solidFill>
              <a:srgbClr val="EFE1D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73952" y="3191256"/>
            <a:ext cx="384048" cy="384048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473952" y="319125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995160" y="3118104"/>
            <a:ext cx="4480560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2B1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Examine the distribution and concentration of listings across cities and food types using counts, proportions, and city-by-food-type summaries.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4453128"/>
            <a:ext cx="5349240" cy="1298448"/>
          </a:xfrm>
          <a:prstGeom prst="roundRect">
            <a:avLst>
              <a:gd name="adj" fmla="val 4930"/>
            </a:avLst>
          </a:prstGeom>
          <a:solidFill>
            <a:srgbClr val="FFFFFF"/>
          </a:solidFill>
          <a:ln w="12700">
            <a:solidFill>
              <a:srgbClr val="EFE1D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13232" y="4617720"/>
            <a:ext cx="384048" cy="384048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13232" y="46177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1234440" y="4544568"/>
            <a:ext cx="4480560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2B1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relationships among diversity, distribution, reviewer activity, and ratings using descriptive statistics, group comparisons, correlation, and an inferential check — without claiming causation.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309360" y="4453128"/>
            <a:ext cx="5349240" cy="1298448"/>
          </a:xfrm>
          <a:prstGeom prst="roundRect">
            <a:avLst>
              <a:gd name="adj" fmla="val 4930"/>
            </a:avLst>
          </a:prstGeom>
          <a:solidFill>
            <a:srgbClr val="FFFFFF"/>
          </a:solidFill>
          <a:ln w="12700">
            <a:solidFill>
              <a:srgbClr val="EFE1D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73952" y="4617720"/>
            <a:ext cx="384048" cy="384048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473952" y="46177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6995160" y="4544568"/>
            <a:ext cx="4480560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2B1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Communicate findings through 4–6 clearly labeled, honestly scaled, captioned visualizations with plain-language interpretation and limitations.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11505895" y="640080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7A7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DATASET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1B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Foodpanda Restaurant Listings, 2025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6035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6E5C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raw dataset contains one row per restaurant listing as it appears on Foodpanda, with 6 original fields: a store identifier, store name, food-type category, average rating, reviewer count, and city.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788920"/>
            <a:ext cx="1417320" cy="1371600"/>
          </a:xfrm>
          <a:prstGeom prst="roundRect">
            <a:avLst>
              <a:gd name="adj" fmla="val 5333"/>
            </a:avLst>
          </a:prstGeom>
          <a:solidFill>
            <a:srgbClr val="F4ECE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2953512"/>
            <a:ext cx="1417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12,409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630168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6E5C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listings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103120" y="2788920"/>
            <a:ext cx="1417320" cy="1371600"/>
          </a:xfrm>
          <a:prstGeom prst="roundRect">
            <a:avLst>
              <a:gd name="adj" fmla="val 5333"/>
            </a:avLst>
          </a:prstGeom>
          <a:solidFill>
            <a:srgbClr val="F4ECE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103120" y="2953512"/>
            <a:ext cx="1417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2103120" y="3630168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6E5C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columns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0" y="2788920"/>
            <a:ext cx="1417320" cy="1371600"/>
          </a:xfrm>
          <a:prstGeom prst="roundRect">
            <a:avLst>
              <a:gd name="adj" fmla="val 5333"/>
            </a:avLst>
          </a:prstGeom>
          <a:solidFill>
            <a:srgbClr val="F4ECE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657600" y="2953512"/>
            <a:ext cx="1417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3657600" y="3630168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6E5C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Cities covered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212080" y="2788920"/>
            <a:ext cx="1417320" cy="1371600"/>
          </a:xfrm>
          <a:prstGeom prst="roundRect">
            <a:avLst>
              <a:gd name="adj" fmla="val 5333"/>
            </a:avLst>
          </a:prstGeom>
          <a:solidFill>
            <a:srgbClr val="F4ECE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212080" y="2953512"/>
            <a:ext cx="1417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68</a:t>
            </a:r>
            <a:endParaRPr lang="en-US" sz="2600" dirty="0"/>
          </a:p>
        </p:txBody>
      </p:sp>
      <p:sp>
        <p:nvSpPr>
          <p:cNvPr id="16" name="Text 14"/>
          <p:cNvSpPr txBox="1"/>
          <p:nvPr/>
        </p:nvSpPr>
        <p:spPr>
          <a:xfrm>
            <a:off x="5212080" y="3630168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6E5C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Food-type categories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903720" y="1371600"/>
            <a:ext cx="4754880" cy="4709160"/>
          </a:xfrm>
          <a:prstGeom prst="roundRect">
            <a:avLst>
              <a:gd name="adj" fmla="val 1553"/>
            </a:avLst>
          </a:prstGeom>
          <a:solidFill>
            <a:srgbClr val="F4ECE6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178040" y="155448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1B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Raw Columns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7178040" y="205740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StoreId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7178040" y="2322576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5C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code for the store/brand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7178040" y="2715768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CompleteStoreName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7178040" y="2980944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5C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Branch-level restaurant name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7178040" y="3374136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FoodType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7178040" y="3639312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5C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Cuisine / category label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7178040" y="4032504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AverageRating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7178040" y="4297680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5C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rating (0–5)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7178040" y="4690872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Reviewers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7178040" y="4956048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5C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ratings received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7178040" y="534924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7178040" y="5614416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5C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Listed city (raw text)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11505895" y="640080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7A7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1 · CLEANING &amp; PREPARATION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1B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Issues Found — and How Each Was Resolved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64240" cy="704088"/>
          </a:xfrm>
          <a:prstGeom prst="roundRect">
            <a:avLst>
              <a:gd name="adj" fmla="val 6494"/>
            </a:avLst>
          </a:prstGeom>
          <a:solidFill>
            <a:srgbClr val="FFFFFF"/>
          </a:solidFill>
          <a:ln w="12700">
            <a:solidFill>
              <a:srgbClr val="EFE1D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609344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200" b="1" dirty="0">
                <a:solidFill>
                  <a:srgbClr val="8A3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FoodType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2834640" y="1609344"/>
            <a:ext cx="3794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50" dirty="0">
                <a:solidFill>
                  <a:srgbClr val="6E5C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 listings (0.7%) had no FoodType.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6766560" y="1609344"/>
            <a:ext cx="4663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50" dirty="0">
                <a:solidFill>
                  <a:srgbClr val="2B1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Filled as “Unspecified” — kept, not dropped, so no listing data is lost; excluded from food-type-specific views.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48640" y="2350008"/>
            <a:ext cx="11064240" cy="704088"/>
          </a:xfrm>
          <a:prstGeom prst="roundRect">
            <a:avLst>
              <a:gd name="adj" fmla="val 6494"/>
            </a:avLst>
          </a:prstGeom>
          <a:solidFill>
            <a:srgbClr val="FFFFFF"/>
          </a:solidFill>
          <a:ln w="12700">
            <a:solidFill>
              <a:srgbClr val="EFE1D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2404872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200" b="1" dirty="0">
                <a:solidFill>
                  <a:srgbClr val="8A3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text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2834640" y="2404872"/>
            <a:ext cx="3794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50" dirty="0">
                <a:solidFill>
                  <a:srgbClr val="6E5C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“Dim Sum ” had trailing whitespace.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6766560" y="2404872"/>
            <a:ext cx="4663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50" dirty="0">
                <a:solidFill>
                  <a:srgbClr val="2B1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Stripped whitespace from all FoodType values (68 categories confirmed).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3145536"/>
            <a:ext cx="11064240" cy="704088"/>
          </a:xfrm>
          <a:prstGeom prst="roundRect">
            <a:avLst>
              <a:gd name="adj" fmla="val 6494"/>
            </a:avLst>
          </a:prstGeom>
          <a:solidFill>
            <a:srgbClr val="FFFFFF"/>
          </a:solidFill>
          <a:ln w="12700">
            <a:solidFill>
              <a:srgbClr val="EFE1D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7240" y="3200400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200" b="1" dirty="0">
                <a:solidFill>
                  <a:srgbClr val="8A3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 identifiers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2834640" y="3200400"/>
            <a:ext cx="3794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50" dirty="0">
                <a:solidFill>
                  <a:srgbClr val="6E5C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 StoreIds shared by 134 rows (multi-branch/virtual-brand listings).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6766560" y="3200400"/>
            <a:ext cx="4663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50" dirty="0">
                <a:solidFill>
                  <a:srgbClr val="2B1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Flagged with a SharesStoreId column instead of deleting — each row is a real, distinct listing.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3941064"/>
            <a:ext cx="11064240" cy="704088"/>
          </a:xfrm>
          <a:prstGeom prst="roundRect">
            <a:avLst>
              <a:gd name="adj" fmla="val 6494"/>
            </a:avLst>
          </a:prstGeom>
          <a:solidFill>
            <a:srgbClr val="FFFFFF"/>
          </a:solidFill>
          <a:ln w="12700">
            <a:solidFill>
              <a:srgbClr val="EFE1D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77240" y="3995928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200" b="1" dirty="0">
                <a:solidFill>
                  <a:srgbClr val="8A3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Unrated listings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2834640" y="3995928"/>
            <a:ext cx="3794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50" dirty="0">
                <a:solidFill>
                  <a:srgbClr val="6E5C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3,037 listings (24.5%) have 0 reviewers / 0 rating.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6766560" y="3995928"/>
            <a:ext cx="4663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50" dirty="0">
                <a:solidFill>
                  <a:srgbClr val="2B1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Flagged via an IsRated column; excluded only from rating-based analysis, kept for listing counts.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4736592"/>
            <a:ext cx="11064240" cy="704088"/>
          </a:xfrm>
          <a:prstGeom prst="roundRect">
            <a:avLst>
              <a:gd name="adj" fmla="val 6494"/>
            </a:avLst>
          </a:prstGeom>
          <a:solidFill>
            <a:srgbClr val="FFFFFF"/>
          </a:solidFill>
          <a:ln w="12700">
            <a:solidFill>
              <a:srgbClr val="EFE1D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77240" y="4791456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200" b="1" dirty="0">
                <a:solidFill>
                  <a:srgbClr val="8A3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text formatting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2834640" y="4791456"/>
            <a:ext cx="3794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50" dirty="0">
                <a:solidFill>
                  <a:srgbClr val="6E5C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raw city strings (e.g. “davao city davao del sur”).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6766560" y="4791456"/>
            <a:ext cx="4663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50" dirty="0">
                <a:solidFill>
                  <a:srgbClr val="2B1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Mapped to a clean City name + Province using PH geography knowledge.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5532120"/>
            <a:ext cx="11064240" cy="704088"/>
          </a:xfrm>
          <a:prstGeom prst="roundRect">
            <a:avLst>
              <a:gd name="adj" fmla="val 6494"/>
            </a:avLst>
          </a:prstGeom>
          <a:solidFill>
            <a:srgbClr val="FFFFFF"/>
          </a:solidFill>
          <a:ln w="12700">
            <a:solidFill>
              <a:srgbClr val="EFE1D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77240" y="5586984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200" b="1" dirty="0">
                <a:solidFill>
                  <a:srgbClr val="8A3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 outliers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2834640" y="5586984"/>
            <a:ext cx="3794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50" dirty="0">
                <a:solidFill>
                  <a:srgbClr val="6E5C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1,517 listings (12.2%) exceed the IQR upper fence.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6766560" y="5586984"/>
            <a:ext cx="4663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50" dirty="0">
                <a:solidFill>
                  <a:srgbClr val="2B1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as legitimate major chains (McDonald's, Jollibee) — kept as real values, not errors.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11505895" y="640080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7A7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2 · FOOD-TYPE DIVERSITY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1B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Many Distinct Cuisines Does Each City List?</a:t>
            </a:r>
            <a:endParaRPr lang="en-US" sz="2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417320"/>
          <a:ext cx="7498080" cy="5074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183880" y="1417320"/>
            <a:ext cx="3520440" cy="5074920"/>
          </a:xfrm>
          <a:prstGeom prst="roundRect">
            <a:avLst>
              <a:gd name="adj" fmla="val 2078"/>
            </a:avLst>
          </a:prstGeom>
          <a:solidFill>
            <a:srgbClr val="F4ECE6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412480" y="164592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A3B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8412480" y="2011680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2B1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Quezon City lists the widest cuisine variety (63 food types), narrowly ahead of Davao City and Manila (62 each).</a:t>
            </a:r>
            <a:endParaRPr lang="en-US" sz="1150" dirty="0"/>
          </a:p>
        </p:txBody>
      </p:sp>
      <p:sp>
        <p:nvSpPr>
          <p:cNvPr id="8" name="Text 5"/>
          <p:cNvSpPr txBox="1"/>
          <p:nvPr/>
        </p:nvSpPr>
        <p:spPr>
          <a:xfrm>
            <a:off x="8412480" y="3154680"/>
            <a:ext cx="3108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2B1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Valencia has the narrowest range (26), but it also has far fewer total listings overall — so raw category count is partly a function of sample size, not purely a cultural difference.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8412480" y="4709160"/>
            <a:ext cx="310896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i="1" dirty="0">
                <a:solidFill>
                  <a:srgbClr val="6E5C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Shannon diversity index (which also rewards evenness across categories) tells a similar story — Metro Manila cities lead on both raw count and evenness.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6446520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E5C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1. Food-Type Diversity by City (Unspecified excluded).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505895" y="640080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7A7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3 · CUSTOMER ENGAGEMENT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B1B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Average Rating by City — A Surprisingly Narrow Band</a:t>
            </a:r>
            <a:endParaRPr lang="en-US" sz="2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371600"/>
          <a:ext cx="7498080" cy="5120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183880" y="1371600"/>
            <a:ext cx="3520440" cy="5120640"/>
          </a:xfrm>
          <a:prstGeom prst="roundRect">
            <a:avLst>
              <a:gd name="adj" fmla="val 2078"/>
            </a:avLst>
          </a:prstGeom>
          <a:solidFill>
            <a:srgbClr val="F4ECE6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412480" y="160020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A3B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8412480" y="1965960"/>
            <a:ext cx="3108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2B1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axis here is fixed at the true 0–5 scale, not zoomed in — and even so, average ratings cluster tightly between about 4.87 and 4.96 across every city.</a:t>
            </a:r>
            <a:endParaRPr lang="en-US" sz="1150" dirty="0"/>
          </a:p>
        </p:txBody>
      </p:sp>
      <p:sp>
        <p:nvSpPr>
          <p:cNvPr id="8" name="Text 5"/>
          <p:cNvSpPr txBox="1"/>
          <p:nvPr/>
        </p:nvSpPr>
        <p:spPr>
          <a:xfrm>
            <a:off x="8412480" y="3520440"/>
            <a:ext cx="31089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2B1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alone does not meaningfully separate restaurants on rating — the differences between the highest (Marikina City, 4.96) and lowest (Davao City, 4.87) are small in practical terms.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6492240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E5C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2. Average Customer Rating by City (unrated listings excluded).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505895" y="640080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7A7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3 · CUSTOMER ENGAGEMENT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B1B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Food Types Rate Highest?</a:t>
            </a:r>
            <a:endParaRPr lang="en-US" sz="2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417320"/>
          <a:ext cx="6766560" cy="4709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452360" y="1417320"/>
            <a:ext cx="4251960" cy="4709160"/>
          </a:xfrm>
          <a:prstGeom prst="roundRect">
            <a:avLst>
              <a:gd name="adj" fmla="val 1720"/>
            </a:avLst>
          </a:prstGeom>
          <a:solidFill>
            <a:srgbClr val="F4ECE6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680960" y="1645920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A3B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 This Chart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7680960" y="2011680"/>
            <a:ext cx="3794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2B1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Restricted to food types with at least 30 rated listings, so a single 5-star stall with 2 reviews can't masquerade as “the best food type.”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7680960" y="3291840"/>
            <a:ext cx="3794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2B1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Cakes tops the list at 4.98, followed by Bread and Donut at 4.97 — dessert and bakery categories dominate the top tier.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7680960" y="4572000"/>
            <a:ext cx="37947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i="1" dirty="0">
                <a:solidFill>
                  <a:srgbClr val="6E5C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as with cities, the spread from top to bottom of this list is narrow (4.95–4.98) — food type is a weak differentiator of rating, same as city.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6263640"/>
            <a:ext cx="6766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E5C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3. Top 10 Food Types by Average Rating (min. 30 rated listings).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505895" y="640080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7A7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4 · DISTRIBUTION OF LISTINGS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1B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Are Restaurant Listings Concentrated?</a:t>
            </a:r>
            <a:endParaRPr lang="en-US" sz="2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417320"/>
          <a:ext cx="7498080" cy="5074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183880" y="1417320"/>
            <a:ext cx="3520440" cy="5074920"/>
          </a:xfrm>
          <a:prstGeom prst="roundRect">
            <a:avLst>
              <a:gd name="adj" fmla="val 2078"/>
            </a:avLst>
          </a:prstGeom>
          <a:solidFill>
            <a:srgbClr val="F4ECE6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412480" y="164592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A3B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8412480" y="2011680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2B1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Quezon City alone accounts for 17.8% of all listings — more than the five smallest cities combined.</a:t>
            </a:r>
            <a:endParaRPr lang="en-US" sz="1150" dirty="0"/>
          </a:p>
        </p:txBody>
      </p:sp>
      <p:sp>
        <p:nvSpPr>
          <p:cNvPr id="8" name="Text 5"/>
          <p:cNvSpPr txBox="1"/>
          <p:nvPr/>
        </p:nvSpPr>
        <p:spPr>
          <a:xfrm>
            <a:off x="8412480" y="3154680"/>
            <a:ext cx="3108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2B1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top 5 cities (Quezon City, Manila, Makati, Cebu, Davao) together hold about 56.9% of all listings, while the smallest city, Valencia, accounts for just 0.5%.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8412480" y="4572000"/>
            <a:ext cx="31089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i="1" dirty="0">
                <a:solidFill>
                  <a:srgbClr val="6E5C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concentration matters for interpreting every other chart: small-city averages rest on far fewer listings and are inherently less stable (see Limitations).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6492240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E5C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4. Number of Restaurant Listings by City.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505895" y="640080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7A7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4 · DISTRIBUTION OF LISTINGS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1B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Food Types Show Up Most Often?</a:t>
            </a:r>
            <a:endParaRPr lang="en-US" sz="2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417320"/>
          <a:ext cx="7498080" cy="5074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183880" y="1417320"/>
            <a:ext cx="3520440" cy="5074920"/>
          </a:xfrm>
          <a:prstGeom prst="roundRect">
            <a:avLst>
              <a:gd name="adj" fmla="val 2078"/>
            </a:avLst>
          </a:prstGeom>
          <a:solidFill>
            <a:srgbClr val="F4ECE6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412480" y="164592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A3B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8412480" y="2011680"/>
            <a:ext cx="3108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2B1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Filipino cuisine dominates with 1,657 listings (13.5% of categorized listings) — more than 1.5× the next closest category, Coffee (8.1%).</a:t>
            </a:r>
            <a:endParaRPr lang="en-US" sz="1150" dirty="0"/>
          </a:p>
        </p:txBody>
      </p:sp>
      <p:sp>
        <p:nvSpPr>
          <p:cNvPr id="8" name="Text 5"/>
          <p:cNvSpPr txBox="1"/>
          <p:nvPr/>
        </p:nvSpPr>
        <p:spPr>
          <a:xfrm>
            <a:off x="8412480" y="3429000"/>
            <a:ext cx="3108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2B1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Milk Tea (6.4%) and Chicken (5.0%) round out the top four, reflecting well-known everyday Filipino food-delivery habits.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8412480" y="4663440"/>
            <a:ext cx="31089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i="1" dirty="0">
                <a:solidFill>
                  <a:srgbClr val="6E5C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top 15 of 68 categories shown here already cover the large majority of categorized listings — the tail of niche cuisines is long but thin.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6492240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E5C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5. Top 15 Food-Type Categories by Listing Count (Unspecified excluded).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505895" y="640080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7A7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5 · RELATIONSHIPS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B1B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Does Reviewer Volume Relate to Rating?</a:t>
            </a:r>
            <a:endParaRPr lang="en-US" sz="2600" dirty="0"/>
          </a:p>
        </p:txBody>
      </p:sp>
      <p:pic>
        <p:nvPicPr>
          <p:cNvPr id="4" name="Image 0" descr="/home/claude/assets/chart6_scat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17320"/>
            <a:ext cx="7040880" cy="42062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5669280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E5C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6. Rating vs. Reviewer Count (rated listings only, n = 9,372).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7772400" y="1417320"/>
            <a:ext cx="3931920" cy="1965960"/>
          </a:xfrm>
          <a:prstGeom prst="roundRect">
            <a:avLst>
              <a:gd name="adj" fmla="val 3721"/>
            </a:avLst>
          </a:prstGeom>
          <a:solidFill>
            <a:srgbClr val="F4ECE6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8001000" y="157276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5C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Pearson r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8001000" y="1810512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0.101</a:t>
            </a:r>
            <a:endParaRPr lang="en-US" sz="2600" dirty="0"/>
          </a:p>
        </p:txBody>
      </p:sp>
      <p:sp>
        <p:nvSpPr>
          <p:cNvPr id="9" name="Text 6"/>
          <p:cNvSpPr txBox="1"/>
          <p:nvPr/>
        </p:nvSpPr>
        <p:spPr>
          <a:xfrm>
            <a:off x="8001000" y="22860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5C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1.0×10⁻²²</a:t>
            </a:r>
            <a:endParaRPr lang="en-US" sz="950" dirty="0"/>
          </a:p>
        </p:txBody>
      </p:sp>
      <p:sp>
        <p:nvSpPr>
          <p:cNvPr id="10" name="Text 7"/>
          <p:cNvSpPr txBox="1"/>
          <p:nvPr/>
        </p:nvSpPr>
        <p:spPr>
          <a:xfrm>
            <a:off x="9829800" y="157276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5C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Spearman r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9829800" y="1810512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0.289</a:t>
            </a:r>
            <a:endParaRPr lang="en-US" sz="2600" dirty="0"/>
          </a:p>
        </p:txBody>
      </p:sp>
      <p:sp>
        <p:nvSpPr>
          <p:cNvPr id="12" name="Text 9"/>
          <p:cNvSpPr txBox="1"/>
          <p:nvPr/>
        </p:nvSpPr>
        <p:spPr>
          <a:xfrm>
            <a:off x="9829800" y="22860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5C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3.5×10⁻¹⁸⁰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8001000" y="2743200"/>
            <a:ext cx="3474720" cy="0"/>
          </a:xfrm>
          <a:prstGeom prst="line">
            <a:avLst/>
          </a:prstGeom>
          <a:noFill/>
          <a:ln w="12700">
            <a:solidFill>
              <a:srgbClr val="E9DCD5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001000" y="288036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i="1" dirty="0">
                <a:solidFill>
                  <a:srgbClr val="6E5C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Spearman is the more appropriate measure here since Reviewers is heavily right-skewed and doesn't assume a linear, normally-distributed relationship.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7772400" y="3611880"/>
            <a:ext cx="3931920" cy="2880360"/>
          </a:xfrm>
          <a:prstGeom prst="roundRect">
            <a:avLst>
              <a:gd name="adj" fmla="val 2540"/>
            </a:avLst>
          </a:prstGeom>
          <a:solidFill>
            <a:srgbClr val="B85042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001000" y="3767328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Plain-Language Read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8001000" y="4160520"/>
            <a:ext cx="34747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relationship is small and positive — statistically significant only because the sample is large (n ≈ 9,372), not because it's strong. Reviewer count explains only a small fraction of the variation in rating.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8001000" y="5440680"/>
            <a:ext cx="34747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b="1" i="1" dirty="0">
                <a:solidFill>
                  <a:srgbClr val="FB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correlation, not a causal claim — it's equally consistent with “popular places get rated well” or “well-rated places attract more reviewers.”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11505895" y="640080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7A7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B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6 · HONEST REPORTING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B1B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Statistical Pitfall Check &amp; Limitations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6424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FE1D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956816"/>
            <a:ext cx="109728" cy="109728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05840" y="1627632"/>
            <a:ext cx="251460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8A3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Misleading axes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3611880" y="1627632"/>
            <a:ext cx="781812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2B1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 charts are fixed to the true 0–5 scale rather than zoomed in, which would visually exaggerate small city/food-type differences.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523744"/>
            <a:ext cx="1106424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FE1D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2926080"/>
            <a:ext cx="109728" cy="109728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05840" y="2596896"/>
            <a:ext cx="251460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8A3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vs. causation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3611880" y="2596896"/>
            <a:ext cx="781812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2B1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rating–reviewer relationship (Objective 5) is explicitly reported as associational only, never causal.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493008"/>
            <a:ext cx="1106424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FE1D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7240" y="3895344"/>
            <a:ext cx="109728" cy="109728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005840" y="3566160"/>
            <a:ext cx="251460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8A3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Cherry-picking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3611880" y="3566160"/>
            <a:ext cx="781812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2B1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Food-type rating comparisons exclude categories under 30 rated listings, so a single lucky 5-star stall can't pass as “best.”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4462272"/>
            <a:ext cx="1106424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FE1D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7240" y="4864608"/>
            <a:ext cx="109728" cy="109728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005840" y="4535424"/>
            <a:ext cx="251460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8A3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Small-sample overconfidence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3611880" y="4535424"/>
            <a:ext cx="781812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2B1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city like Valencia (n=60) has a visibly wider, less trustworthy 95% confidence interval on its average rating than a large city like Quezon City (n=2,211) — not every city average is equally reliable.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5431536"/>
            <a:ext cx="1106424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FE1D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7240" y="5833872"/>
            <a:ext cx="109728" cy="109728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1005840" y="5504688"/>
            <a:ext cx="251460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8A3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Listings ≠ restaurants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3611880" y="5504688"/>
            <a:ext cx="781812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2B1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134 rows share a StoreId (multi-branch or virtual-brand listings) — city listing counts should be read as menu/brand listings, not a literal restaurant census.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1505895" y="640080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7A7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1B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Findings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636776"/>
            <a:ext cx="457200" cy="45720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94360" y="163677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508760"/>
            <a:ext cx="2743200" cy="941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2B1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Diversity varies by city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4206240" y="1508760"/>
            <a:ext cx="7406640" cy="941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6E5C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Metro Manila cities (Quezon City, Davao, Manila) lead in food-type variety, partly — but not entirely — because they simply have more listings.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94360" y="2468880"/>
            <a:ext cx="11018520" cy="0"/>
          </a:xfrm>
          <a:prstGeom prst="line">
            <a:avLst/>
          </a:prstGeom>
          <a:noFill/>
          <a:ln w="12700">
            <a:solidFill>
              <a:srgbClr val="F0E5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94360" y="2624328"/>
            <a:ext cx="457200" cy="457200"/>
          </a:xfrm>
          <a:prstGeom prst="ellipse">
            <a:avLst/>
          </a:prstGeom>
          <a:solidFill>
            <a:srgbClr val="7C9885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94360" y="26243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280160" y="2496312"/>
            <a:ext cx="2743200" cy="941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2B1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Ratings are compressed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4206240" y="2496312"/>
            <a:ext cx="7406640" cy="941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6E5C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ratings sit in a narrow band (~4.87–4.96) across cities and food types alike — rating alone weakly differentiates either.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94360" y="3456432"/>
            <a:ext cx="11018520" cy="0"/>
          </a:xfrm>
          <a:prstGeom prst="line">
            <a:avLst/>
          </a:prstGeom>
          <a:noFill/>
          <a:ln w="12700">
            <a:solidFill>
              <a:srgbClr val="F0E5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94360" y="3611880"/>
            <a:ext cx="457200" cy="45720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94360" y="3611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280160" y="3483864"/>
            <a:ext cx="2743200" cy="941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2B1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is right-skewed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4206240" y="3483864"/>
            <a:ext cx="7406640" cy="941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6E5C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handful of national chains (McDonald's, Jollibee) pull the mean reviewer count far above the median — the median is the fairer “typical” figure.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94360" y="4443984"/>
            <a:ext cx="11018520" cy="0"/>
          </a:xfrm>
          <a:prstGeom prst="line">
            <a:avLst/>
          </a:prstGeom>
          <a:noFill/>
          <a:ln w="12700">
            <a:solidFill>
              <a:srgbClr val="F0E5E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94360" y="4599432"/>
            <a:ext cx="457200" cy="457200"/>
          </a:xfrm>
          <a:prstGeom prst="ellipse">
            <a:avLst/>
          </a:prstGeom>
          <a:solidFill>
            <a:srgbClr val="7C9885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94360" y="45994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280160" y="4471416"/>
            <a:ext cx="2743200" cy="941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2B1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 ↔ reviewers: weak link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4206240" y="4471416"/>
            <a:ext cx="7406640" cy="941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6E5C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Spearman r = 0.29 — statistically significant but practically small, and explicitly not causal.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94360" y="5431536"/>
            <a:ext cx="11018520" cy="0"/>
          </a:xfrm>
          <a:prstGeom prst="line">
            <a:avLst/>
          </a:prstGeom>
          <a:noFill/>
          <a:ln w="12700">
            <a:solidFill>
              <a:srgbClr val="F0E5E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94360" y="5586984"/>
            <a:ext cx="457200" cy="45720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94360" y="558698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1280160" y="5458968"/>
            <a:ext cx="2743200" cy="941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2B1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Listings are concentrated</a:t>
            </a:r>
            <a:endParaRPr lang="en-US" sz="1350" dirty="0"/>
          </a:p>
        </p:txBody>
      </p:sp>
      <p:sp>
        <p:nvSpPr>
          <p:cNvPr id="27" name="Text 25"/>
          <p:cNvSpPr txBox="1"/>
          <p:nvPr/>
        </p:nvSpPr>
        <p:spPr>
          <a:xfrm>
            <a:off x="4206240" y="5458968"/>
            <a:ext cx="7406640" cy="941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6E5C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top 5 cities hold roughly 57% of all listings, which also affects how much to trust any single city's average.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1505895" y="640080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7A7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B1B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1828800"/>
            <a:ext cx="5943600" cy="5943600"/>
          </a:xfrm>
          <a:prstGeom prst="ellipse">
            <a:avLst/>
          </a:prstGeom>
          <a:solidFill>
            <a:srgbClr val="8A3B31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937760"/>
            <a:ext cx="3291840" cy="3291840"/>
          </a:xfrm>
          <a:prstGeom prst="ellipse">
            <a:avLst/>
          </a:prstGeom>
          <a:solidFill>
            <a:srgbClr val="7C9885">
              <a:alpha val="3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265176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361188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E8D9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868680" y="4343400"/>
            <a:ext cx="1097280" cy="0"/>
          </a:xfrm>
          <a:prstGeom prst="line">
            <a:avLst/>
          </a:prstGeom>
          <a:noFill/>
          <a:ln w="38100">
            <a:solidFill>
              <a:srgbClr val="B8504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68680" y="4526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 the Philippine Restaurant Landscape  ·  Foodpanda Restaurant Listings, 2025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2026-09-09T11:27:46Z</dcterms:created>
  <dcterms:modified xsi:type="dcterms:W3CDTF">2026-09-09T11:27:46Z</dcterms:modified>
</cp:coreProperties>
</file>