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438" autoAdjust="0"/>
  </p:normalViewPr>
  <p:slideViewPr>
    <p:cSldViewPr snapToGrid="0">
      <p:cViewPr varScale="1">
        <p:scale>
          <a:sx n="117" d="100"/>
          <a:sy n="117" d="100"/>
        </p:scale>
        <p:origin x="31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 Erika Dela Cruz" userId="ac71d7d17b5d2be0" providerId="LiveId" clId="{CE6302E6-59CA-4431-AD1E-50A2B09D0D35}"/>
    <pc:docChg chg="custSel modSld">
      <pc:chgData name="C. Erika Dela Cruz" userId="ac71d7d17b5d2be0" providerId="LiveId" clId="{CE6302E6-59CA-4431-AD1E-50A2B09D0D35}" dt="2026-09-10T12:14:06.912" v="1" actId="478"/>
      <pc:docMkLst>
        <pc:docMk/>
      </pc:docMkLst>
      <pc:sldChg chg="delSp mod">
        <pc:chgData name="C. Erika Dela Cruz" userId="ac71d7d17b5d2be0" providerId="LiveId" clId="{CE6302E6-59CA-4431-AD1E-50A2B09D0D35}" dt="2026-09-10T12:13:39.875" v="0" actId="478"/>
        <pc:sldMkLst>
          <pc:docMk/>
          <pc:sldMk cId="968460565" sldId="258"/>
        </pc:sldMkLst>
        <pc:spChg chg="del">
          <ac:chgData name="C. Erika Dela Cruz" userId="ac71d7d17b5d2be0" providerId="LiveId" clId="{CE6302E6-59CA-4431-AD1E-50A2B09D0D35}" dt="2026-09-10T12:13:39.875" v="0" actId="478"/>
          <ac:spMkLst>
            <pc:docMk/>
            <pc:sldMk cId="968460565" sldId="258"/>
            <ac:spMk id="2" creationId="{9EB1535D-A945-4D4A-BBED-7106D755B799}"/>
          </ac:spMkLst>
        </pc:spChg>
      </pc:sldChg>
      <pc:sldChg chg="delSp mod">
        <pc:chgData name="C. Erika Dela Cruz" userId="ac71d7d17b5d2be0" providerId="LiveId" clId="{CE6302E6-59CA-4431-AD1E-50A2B09D0D35}" dt="2026-09-10T12:14:06.912" v="1" actId="478"/>
        <pc:sldMkLst>
          <pc:docMk/>
          <pc:sldMk cId="1653612676" sldId="268"/>
        </pc:sldMkLst>
        <pc:spChg chg="del">
          <ac:chgData name="C. Erika Dela Cruz" userId="ac71d7d17b5d2be0" providerId="LiveId" clId="{CE6302E6-59CA-4431-AD1E-50A2B09D0D35}" dt="2026-09-10T12:14:06.912" v="1" actId="478"/>
          <ac:spMkLst>
            <pc:docMk/>
            <pc:sldMk cId="1653612676" sldId="268"/>
            <ac:spMk id="2" creationId="{99F93995-84DA-4C6E-8FBE-96DDC017647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Chaim</a:t>
            </a:r>
          </a:p>
          <a:p>
            <a:r>
              <a:t>TARGET TIME: 15 seconds</a:t>
            </a:r>
          </a:p>
          <a:p>
            <a:endParaRPr/>
          </a:p>
          <a:p>
            <a:r>
              <a:t>SCRIPT</a:t>
            </a:r>
          </a:p>
          <a:p>
            <a:r>
              <a:t>Good day, everyone. We are Group 3: Chaim, Nathan, Arvin, and Erika. Our study examines the Foodpanda restaurant listings captured across selected Philippine cities. We focus on food-type diversity, customer engagement, and how the listings are distributed.</a:t>
            </a:r>
          </a:p>
          <a:p>
            <a:endParaRPr/>
          </a:p>
          <a:p>
            <a:r>
              <a:t>SOURCES</a:t>
            </a:r>
          </a:p>
          <a:p>
            <a:r>
              <a:t>- Final title and objectives supplied by Group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Chaim</a:t>
            </a:r>
          </a:p>
          <a:p>
            <a:r>
              <a:t>TARGET TIME: 25 seconds</a:t>
            </a:r>
          </a:p>
          <a:p>
            <a:endParaRPr/>
          </a:p>
          <a:p>
            <a:r>
              <a:t>SCRIPT</a:t>
            </a:r>
          </a:p>
          <a:p>
            <a:r>
              <a:t>Our general objective is to analyze the restaurant landscape represented in this 2025 Foodpanda dataset. The scope is important. We are describing restaurant-listing records in the selected cities. We are not estimating the complete number of operating restaurants, and we are not measuring the food preferences of every Filipino.</a:t>
            </a:r>
          </a:p>
          <a:p>
            <a:endParaRPr/>
          </a:p>
          <a:p>
            <a:r>
              <a:t>SOURCES</a:t>
            </a:r>
          </a:p>
          <a:p>
            <a:r>
              <a:t>- Group 3 finalized general objective</a:t>
            </a:r>
          </a:p>
          <a:p>
            <a:r>
              <a:t>- Foodpanda 2025 Raw Data.csv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Chaim</a:t>
            </a:r>
          </a:p>
          <a:p>
            <a:r>
              <a:t>TARGET TIME: 30 seconds</a:t>
            </a:r>
          </a:p>
          <a:p>
            <a:endParaRPr/>
          </a:p>
          <a:p>
            <a:r>
              <a:t>SCRIPT</a:t>
            </a:r>
          </a:p>
          <a:p>
            <a:r>
              <a:t>Our six objectives follow the complete analysis process. First, we cleaned and documented the dataset. Second, we compared food-type diversity. Third, we assessed reviewer activity and ratings. Fourth, we examined the distribution of listings. Fifth, we explored the relationships among these measures using Spearman correlation. Finally, we communicated the findings through six charts and clear limitations.</a:t>
            </a:r>
          </a:p>
          <a:p>
            <a:endParaRPr/>
          </a:p>
          <a:p>
            <a:r>
              <a:t>SOURCES</a:t>
            </a:r>
          </a:p>
          <a:p>
            <a:r>
              <a:t>- Group 3 finalized specific objectives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Chaim</a:t>
            </a:r>
          </a:p>
          <a:p>
            <a:r>
              <a:t>TARGET TIME: 25 seconds</a:t>
            </a:r>
          </a:p>
          <a:p>
            <a:endParaRPr/>
          </a:p>
          <a:p>
            <a:r>
              <a:t>SCRIPT</a:t>
            </a:r>
          </a:p>
          <a:p>
            <a:r>
              <a:t>The raw file has 12,409 listing records and six original columns. It includes 18 city labels and 67 known food-type categories. Ninety-one listings have no food-type value. One row represents one listing record. Since some store identifiers repeat, we avoid calling every row a verified, unique operating restaurant.</a:t>
            </a:r>
          </a:p>
          <a:p>
            <a:endParaRPr/>
          </a:p>
          <a:p>
            <a:r>
              <a:t>SOURCES</a:t>
            </a:r>
          </a:p>
          <a:p>
            <a:r>
              <a:t>- Foodpanda 2025 Raw Data.csv</a:t>
            </a:r>
          </a:p>
          <a:p>
            <a:r>
              <a:t>- Data Cleanup - Milestone 2.ipynb, inspection section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Chaim</a:t>
            </a:r>
          </a:p>
          <a:p>
            <a:r>
              <a:t>TARGET TIME: 35 seconds</a:t>
            </a:r>
          </a:p>
          <a:p>
            <a:endParaRPr/>
          </a:p>
          <a:p>
            <a:r>
              <a:t>SCRIPT</a:t>
            </a:r>
          </a:p>
          <a:p>
            <a:r>
              <a:t>The cleaning process kept all 12,409 records. We filled 91 missing food types with Unknown and standardized text formatting. We retained the 134 rows with repeated identifiers because they were not exact duplicate rows. We created separate fields for reviewed and unrated listings so zero ratings would not lower the averages. We also used the IQR method to flag 1,517 unusually high reviewer counts. We kept them because a high count may represent genuine engagement.</a:t>
            </a:r>
          </a:p>
          <a:p>
            <a:endParaRPr/>
          </a:p>
          <a:p>
            <a:r>
              <a:t>SOURCES</a:t>
            </a:r>
          </a:p>
          <a:p>
            <a:r>
              <a:t>- Data Cleanup - Milestone 2.ipynb</a:t>
            </a:r>
          </a:p>
          <a:p>
            <a:r>
              <a:t>- Foodpanda 2025 Cleaned Data.csv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Chaim</a:t>
            </a:r>
          </a:p>
          <a:p>
            <a:r>
              <a:rPr dirty="0"/>
              <a:t>TARGET TIME: 35 seconds</a:t>
            </a:r>
          </a:p>
          <a:p>
            <a:endParaRPr dirty="0"/>
          </a:p>
          <a:p>
            <a:r>
              <a:rPr dirty="0"/>
              <a:t>SCRIPT</a:t>
            </a:r>
          </a:p>
          <a:p>
            <a:r>
              <a:rPr dirty="0"/>
              <a:t>The first result shows an uneven distribution of listing records. Quezon City has 2,211 listings, which is 17.82 percent of the dataset. The five largest city groups contain about 56.95 percent of all records. Valencia, Bukidnon has 60 listings. These values describe dataset coverage, so they should not be interpreted as a complete restaurant census. Nathan will now present the remaining findings.</a:t>
            </a:r>
          </a:p>
          <a:p>
            <a:endParaRPr dirty="0"/>
          </a:p>
          <a:p>
            <a:r>
              <a:rPr dirty="0"/>
              <a:t>SOURCES</a:t>
            </a:r>
          </a:p>
          <a:p>
            <a:r>
              <a:rPr dirty="0"/>
              <a:t>- Data Analysis - Milestone 2 - Group 3.ipynb, city distribution</a:t>
            </a:r>
          </a:p>
          <a:p>
            <a:r>
              <a:rPr dirty="0"/>
              <a:t>- </a:t>
            </a:r>
            <a:r>
              <a:rPr dirty="0" err="1"/>
              <a:t>Foodpanda</a:t>
            </a:r>
            <a:r>
              <a:rPr dirty="0"/>
              <a:t> 2025 Cleaned Data.csv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Nathan</a:t>
            </a:r>
          </a:p>
          <a:p>
            <a:r>
              <a:t>TARGET TIME: 30 seconds</a:t>
            </a:r>
          </a:p>
          <a:p>
            <a:endParaRPr/>
          </a:p>
          <a:p>
            <a:r>
              <a:t>SCRIPT</a:t>
            </a:r>
          </a:p>
          <a:p>
            <a:r>
              <a:t>Food-type diversity means the number of unique known food categories recorded in each city. Quezon City has the widest represented variety with 63 categories. Davao City and Manila each have 62, while Valencia has 26. Cities with more captured listings have more opportunities to record different categories, so this comparison partly reflects dataset coverage.</a:t>
            </a:r>
          </a:p>
          <a:p>
            <a:endParaRPr/>
          </a:p>
          <a:p>
            <a:r>
              <a:t>SOURCES</a:t>
            </a:r>
          </a:p>
          <a:p>
            <a:r>
              <a:t>- Data Analysis - Milestone 2 - Group 3.ipynb, city diversity</a:t>
            </a:r>
          </a:p>
          <a:p>
            <a:r>
              <a:t>- Unknown food types excluded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Nathan</a:t>
            </a:r>
          </a:p>
          <a:p>
            <a:r>
              <a:t>TARGET TIME: 25 seconds</a:t>
            </a:r>
          </a:p>
          <a:p>
            <a:endParaRPr/>
          </a:p>
          <a:p>
            <a:r>
              <a:t>SCRIPT</a:t>
            </a:r>
          </a:p>
          <a:p>
            <a:r>
              <a:t>Filipino food is the most represented known category, with 1,657 listings. Coffee follows with 992, and Milk Tea has 791. These percentages use only listings with a known food type. They show how categories are represented on the platform dataset. They do not show actual customer preference or food consumption.</a:t>
            </a:r>
          </a:p>
          <a:p>
            <a:endParaRPr/>
          </a:p>
          <a:p>
            <a:r>
              <a:t>SOURCES</a:t>
            </a:r>
          </a:p>
          <a:p>
            <a:r>
              <a:t>- Data Analysis - Milestone 2 - Group 3.ipynb, food distribution</a:t>
            </a:r>
          </a:p>
          <a:p>
            <a:r>
              <a:t>- Unknown food types excluded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Nathan</a:t>
            </a:r>
          </a:p>
          <a:p>
            <a:r>
              <a:t>TARGET TIME: 35 seconds</a:t>
            </a:r>
          </a:p>
          <a:p>
            <a:endParaRPr/>
          </a:p>
          <a:p>
            <a:r>
              <a:t>SCRIPT</a:t>
            </a:r>
          </a:p>
          <a:p>
            <a:r>
              <a:t>For customer engagement, we examined reviewer counts only among the 9,372 rated listings. The typical, or median, reviewer count ranges from 137 to 300 across cities. We used the median because reviewer counts are very uneven and include extreme values. Average ratings show much less variation. The city means stay between approximately 4.87 and 4.96 out of five.</a:t>
            </a:r>
          </a:p>
          <a:p>
            <a:endParaRPr/>
          </a:p>
          <a:p>
            <a:r>
              <a:t>SOURCES</a:t>
            </a:r>
          </a:p>
          <a:p>
            <a:r>
              <a:t>- Data Analysis - Milestone 2 - Group 3.ipynb, city engagement</a:t>
            </a:r>
          </a:p>
          <a:p>
            <a:r>
              <a:t>- Rated listings only, n = 9,372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Nathan</a:t>
            </a:r>
          </a:p>
          <a:p>
            <a:r>
              <a:t>TARGET TIME: 50 seconds</a:t>
            </a:r>
          </a:p>
          <a:p>
            <a:endParaRPr/>
          </a:p>
          <a:p>
            <a:r>
              <a:t>SCRIPT</a:t>
            </a:r>
          </a:p>
          <a:p>
            <a:r>
              <a:t>We used Spearman correlation because reviewer counts are highly uneven and contain extreme values. A strong relationship appears between listing count and the number of food types, with rho equal to 0.938. This likely reflects coverage because more listings create more opportunities to capture categories. Food-type diversity and typical reviewer activity have a weak relationship, with rho equal to 0.274 and a p-value of 0.271. That p-value means the city-level evidence is insufficient to confirm a relationship. Reviewer count and average rating also have a weak positive relationship, with rho equal to 0.289. These are associations and do not prove cause and effect.</a:t>
            </a:r>
          </a:p>
          <a:p>
            <a:endParaRPr/>
          </a:p>
          <a:p>
            <a:r>
              <a:t>SOURCES</a:t>
            </a:r>
          </a:p>
          <a:p>
            <a:r>
              <a:t>- Data Analysis - Milestone 2 - Group 3.ipynb, Spearman tests</a:t>
            </a:r>
          </a:p>
          <a:p>
            <a:r>
              <a:t>- 18 city-level observations for the first two tests</a:t>
            </a:r>
          </a:p>
          <a:p>
            <a:r>
              <a:t>- 9,372 rated listings for reviewer count and rating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Nathan</a:t>
            </a:r>
          </a:p>
          <a:p>
            <a:r>
              <a:t>TARGET TIME: 30 seconds</a:t>
            </a:r>
          </a:p>
          <a:p>
            <a:endParaRPr/>
          </a:p>
          <a:p>
            <a:r>
              <a:t>SCRIPT</a:t>
            </a:r>
          </a:p>
          <a:p>
            <a:r>
              <a:t>This heatmap compares the percentage share of the ten leading known food types within each city. Darker blue represents a larger share. Filipino food has the largest share among these categories in 16 of the 18 cities. Chicken leads in Ormoc, while Milk Tea leads in Valencia. The heatmap helps us compare category mix even when cities have very different listing totals.</a:t>
            </a:r>
          </a:p>
          <a:p>
            <a:endParaRPr/>
          </a:p>
          <a:p>
            <a:r>
              <a:t>SOURCES</a:t>
            </a:r>
          </a:p>
          <a:p>
            <a:r>
              <a:t>- Data Analysis - Milestone 2 - Group 3.ipynb, city-food heatmap</a:t>
            </a:r>
          </a:p>
          <a:p>
            <a:r>
              <a:t>- Percentages use known-food listings within each city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Nathan</a:t>
            </a:r>
          </a:p>
          <a:p>
            <a:r>
              <a:t>TARGET TIME: 40 seconds</a:t>
            </a:r>
          </a:p>
          <a:p>
            <a:endParaRPr/>
          </a:p>
          <a:p>
            <a:r>
              <a:t>SCRIPT</a:t>
            </a:r>
          </a:p>
          <a:p>
            <a:r>
              <a:t>In summary, the listing totals and food-type variety differ across the selected cities. Filipino food is the most represented known category. Reviewer activity varies, while city average ratings remain close to five. Greater food-type diversity does not clearly correspond to higher typical reviewer activity. These findings must remain within the dataset's limits. Foodpanda listings do not represent every operating restaurant, city coverage is uneven, and correlations do not prove causation. We also need to confirm the original source and reuse terms before submission. Next, Arvin and Erika will show the code behind the cleaning and analysis.</a:t>
            </a:r>
          </a:p>
          <a:p>
            <a:endParaRPr/>
          </a:p>
          <a:p>
            <a:r>
              <a:t>SOURCES</a:t>
            </a:r>
          </a:p>
          <a:p>
            <a:r>
              <a:t>- Data Analysis - Milestone 2 - Group 3.ipynb, findings and limitations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Nathan, Arvin, and Erika</a:t>
            </a:r>
          </a:p>
          <a:p>
            <a:r>
              <a:t>TARGET TIME: Nathan 10 seconds, Arvin 60 seconds, Erika 75 seconds</a:t>
            </a:r>
          </a:p>
          <a:p>
            <a:endParaRPr/>
          </a:p>
          <a:p>
            <a:r>
              <a:t>SCRIPT</a:t>
            </a:r>
          </a:p>
          <a:p>
            <a:r>
              <a:t>NATHAN TRANSITION: We will now show how the notebooks produced these results. Arvin will begin with data cleanup, followed by Erika for the exploratory data analysis.</a:t>
            </a:r>
          </a:p>
          <a:p>
            <a:endParaRPr/>
          </a:p>
          <a:p>
            <a:r>
              <a:t>ARVIN SCRIPT: I will briefly show the Data Cleanup notebook. We first loaded the raw CSV and inspected its shape, data types, missing values, exact duplicates, and repeated StoreId values. We filled the 91 missing FoodType values with Unknown and standardized text. We created HasReviews to identify listings with customer reviews, and RatingForAnalysis to keep unrated records out of rating averages. We used the IQR method to flag 1,517 unusually high reviewer counts, but we retained them because they were not confirmed errors. Finally, we validated all 12,409 records and saved the cleaned CSV.</a:t>
            </a:r>
          </a:p>
          <a:p>
            <a:endParaRPr/>
          </a:p>
          <a:p>
            <a:r>
              <a:t>ERIKA SCRIPT: I will show the Data Analysis notebook, also called EDA or Exploratory Data Analysis. We loaded the cleaned CSV and separated known-food listings from rated listings. We used groupby to summarize listings, unique food types, reviewer counts, and ratings by city and food type. We created a pivot table for the city-by-food comparison and generated six charts. We then used Spearman correlation because reviewer counts are uneven and contain extreme values. The results were 0.938 for listings and diversity, 0.274 for diversity and median reviewers, and 0.289 for reviewers and ratings. We interpreted these as associations only and included the dataset limitations.</a:t>
            </a:r>
          </a:p>
          <a:p>
            <a:endParaRPr/>
          </a:p>
          <a:p>
            <a:r>
              <a:t>SOURCES</a:t>
            </a:r>
          </a:p>
          <a:p>
            <a:r>
              <a:t>- Data Cleanup - Milestone 2.ipynb</a:t>
            </a:r>
          </a:p>
          <a:p>
            <a:r>
              <a:t>- Data Analysis - Milestone 2 - Group 3.ipynb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2A6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8BC098-F7BC-4FB9-983C-27ED1BC7F8BA}"/>
              </a:ext>
            </a:extLst>
          </p:cNvPr>
          <p:cNvSpPr>
            <a:spLocks noGrp="1"/>
          </p:cNvSpPr>
          <p:nvPr/>
        </p:nvSpPr>
        <p:spPr>
          <a:xfrm>
            <a:off x="0" y="0"/>
            <a:ext cx="209550" cy="6858000"/>
          </a:xfrm>
          <a:prstGeom prst="rect">
            <a:avLst/>
          </a:prstGeom>
          <a:solidFill>
            <a:srgbClr val="F3A321"/>
          </a:solidFill>
          <a:ln w="0">
            <a:noFill/>
          </a:ln>
        </p:spPr>
      </p:sp>
      <p:sp>
        <p:nvSpPr>
          <p:cNvPr id="2" name="Rectangle 1">
            <a:extLst>
              <a:ext uri="{FF2B5EF4-FFF2-40B4-BE49-F238E27FC236}">
                <a16:creationId xmlns:a16="http://schemas.microsoft.com/office/drawing/2014/main" id="{3D6DD884-0235-462D-A05E-E9071A3DB182}"/>
              </a:ext>
            </a:extLst>
          </p:cNvPr>
          <p:cNvSpPr>
            <a:spLocks noGrp="1"/>
          </p:cNvSpPr>
          <p:nvPr/>
        </p:nvSpPr>
        <p:spPr>
          <a:xfrm>
            <a:off x="685800" y="609600"/>
            <a:ext cx="4857750" cy="285750"/>
          </a:xfrm>
          <a:prstGeom prst="rect">
            <a:avLst/>
          </a:prstGeom>
          <a:noFill/>
          <a:ln w="0">
            <a:noFill/>
          </a:ln>
        </p:spPr>
        <p:txBody>
          <a:bodyPr anchor="t">
            <a:normAutofit/>
          </a:bodyPr>
          <a:lstStyle/>
          <a:p>
            <a:pPr algn="l">
              <a:defRPr sz="1275" b="1">
                <a:solidFill>
                  <a:srgbClr val="F3A321"/>
                </a:solidFill>
                <a:latin typeface="Nimbus Sans"/>
                <a:ea typeface="Nimbus Sans"/>
                <a:cs typeface="Nimbus Sans"/>
              </a:defRPr>
            </a:pPr>
            <a:r>
              <a:rPr sz="1275" b="1">
                <a:solidFill>
                  <a:srgbClr val="F3A321"/>
                </a:solidFill>
                <a:latin typeface="Nimbus Sans"/>
                <a:ea typeface="Nimbus Sans"/>
                <a:cs typeface="Nimbus Sans"/>
              </a:rPr>
              <a:t>MILESTONE 2  GROUP 3</a:t>
            </a:r>
          </a:p>
        </p:txBody>
      </p:sp>
      <p:sp>
        <p:nvSpPr>
          <p:cNvPr id="3" name="Rectangle 2">
            <a:extLst>
              <a:ext uri="{FF2B5EF4-FFF2-40B4-BE49-F238E27FC236}">
                <a16:creationId xmlns:a16="http://schemas.microsoft.com/office/drawing/2014/main" id="{88EFFC4A-894E-4933-8700-08BE2C61ECC8}"/>
              </a:ext>
            </a:extLst>
          </p:cNvPr>
          <p:cNvSpPr>
            <a:spLocks noGrp="1"/>
          </p:cNvSpPr>
          <p:nvPr/>
        </p:nvSpPr>
        <p:spPr>
          <a:xfrm>
            <a:off x="685800" y="1390650"/>
            <a:ext cx="9906000" cy="1619250"/>
          </a:xfrm>
          <a:prstGeom prst="rect">
            <a:avLst/>
          </a:prstGeom>
          <a:noFill/>
          <a:ln w="0">
            <a:noFill/>
          </a:ln>
        </p:spPr>
        <p:txBody>
          <a:bodyPr anchor="t">
            <a:noAutofit/>
          </a:bodyPr>
          <a:lstStyle/>
          <a:p>
            <a:pPr algn="l">
              <a:defRPr sz="3900" b="1">
                <a:solidFill>
                  <a:srgbClr val="FFFFFF"/>
                </a:solidFill>
                <a:latin typeface="Nimbus Sans"/>
                <a:ea typeface="Nimbus Sans"/>
                <a:cs typeface="Nimbus Sans"/>
              </a:defRPr>
            </a:pPr>
            <a:r>
              <a:rPr sz="3900" b="1">
                <a:solidFill>
                  <a:srgbClr val="FFFFFF"/>
                </a:solidFill>
                <a:latin typeface="Nimbus Sans"/>
                <a:ea typeface="Nimbus Sans"/>
                <a:cs typeface="Nimbus Sans"/>
              </a:rPr>
              <a:t>Mapping the Philippine</a:t>
            </a:r>
          </a:p>
          <a:p>
            <a:pPr algn="l">
              <a:defRPr sz="3900" b="1">
                <a:solidFill>
                  <a:srgbClr val="FFFFFF"/>
                </a:solidFill>
                <a:latin typeface="Nimbus Sans"/>
                <a:ea typeface="Nimbus Sans"/>
                <a:cs typeface="Nimbus Sans"/>
              </a:defRPr>
            </a:pPr>
            <a:r>
              <a:rPr sz="3900" b="1">
                <a:solidFill>
                  <a:srgbClr val="FFFFFF"/>
                </a:solidFill>
                <a:latin typeface="Nimbus Sans"/>
                <a:ea typeface="Nimbus Sans"/>
                <a:cs typeface="Nimbus Sans"/>
              </a:rPr>
              <a:t>Restaurant Landscape</a:t>
            </a:r>
          </a:p>
        </p:txBody>
      </p:sp>
      <p:sp>
        <p:nvSpPr>
          <p:cNvPr id="4" name="Rectangle 3">
            <a:extLst>
              <a:ext uri="{FF2B5EF4-FFF2-40B4-BE49-F238E27FC236}">
                <a16:creationId xmlns:a16="http://schemas.microsoft.com/office/drawing/2014/main" id="{056E2472-742C-4A50-9D22-DFE495D8F06A}"/>
              </a:ext>
            </a:extLst>
          </p:cNvPr>
          <p:cNvSpPr>
            <a:spLocks noGrp="1"/>
          </p:cNvSpPr>
          <p:nvPr/>
        </p:nvSpPr>
        <p:spPr>
          <a:xfrm>
            <a:off x="685800" y="3333750"/>
            <a:ext cx="9048750" cy="914400"/>
          </a:xfrm>
          <a:prstGeom prst="rect">
            <a:avLst/>
          </a:prstGeom>
          <a:noFill/>
          <a:ln w="0">
            <a:noFill/>
          </a:ln>
        </p:spPr>
        <p:txBody>
          <a:bodyPr anchor="t">
            <a:normAutofit/>
          </a:bodyPr>
          <a:lstStyle/>
          <a:p>
            <a:pPr algn="l">
              <a:defRPr sz="1875" b="0">
                <a:solidFill>
                  <a:srgbClr val="E7EAF4"/>
                </a:solidFill>
                <a:latin typeface="Nimbus Sans"/>
                <a:ea typeface="Nimbus Sans"/>
                <a:cs typeface="Nimbus Sans"/>
              </a:defRPr>
            </a:pPr>
            <a:r>
              <a:rPr sz="1875" b="0">
                <a:solidFill>
                  <a:srgbClr val="E7EAF4"/>
                </a:solidFill>
                <a:latin typeface="Nimbus Sans"/>
                <a:ea typeface="Nimbus Sans"/>
                <a:cs typeface="Nimbus Sans"/>
              </a:rPr>
              <a:t>Food-Type Diversity, Customer Engagement, and the Distribution of Restaurant Listings Across Selected Cities</a:t>
            </a:r>
          </a:p>
        </p:txBody>
      </p:sp>
      <p:sp>
        <p:nvSpPr>
          <p:cNvPr id="5" name="Rectangle 4">
            <a:extLst>
              <a:ext uri="{FF2B5EF4-FFF2-40B4-BE49-F238E27FC236}">
                <a16:creationId xmlns:a16="http://schemas.microsoft.com/office/drawing/2014/main" id="{DAC836DB-F1DA-4920-B330-0F6688CE303A}"/>
              </a:ext>
            </a:extLst>
          </p:cNvPr>
          <p:cNvSpPr>
            <a:spLocks noGrp="1"/>
          </p:cNvSpPr>
          <p:nvPr/>
        </p:nvSpPr>
        <p:spPr>
          <a:xfrm>
            <a:off x="685800" y="4714875"/>
            <a:ext cx="2476500" cy="38100"/>
          </a:xfrm>
          <a:prstGeom prst="rect">
            <a:avLst/>
          </a:prstGeom>
          <a:solidFill>
            <a:srgbClr val="F3A321"/>
          </a:solidFill>
          <a:ln w="0">
            <a:noFill/>
          </a:ln>
        </p:spPr>
      </p:sp>
      <p:sp>
        <p:nvSpPr>
          <p:cNvPr id="6" name="Rectangle 5">
            <a:extLst>
              <a:ext uri="{FF2B5EF4-FFF2-40B4-BE49-F238E27FC236}">
                <a16:creationId xmlns:a16="http://schemas.microsoft.com/office/drawing/2014/main" id="{79617DAA-9987-4DD1-A4BD-8DC30A1EDA5E}"/>
              </a:ext>
            </a:extLst>
          </p:cNvPr>
          <p:cNvSpPr>
            <a:spLocks noGrp="1"/>
          </p:cNvSpPr>
          <p:nvPr/>
        </p:nvSpPr>
        <p:spPr>
          <a:xfrm>
            <a:off x="685800" y="5191125"/>
            <a:ext cx="6667500" cy="342900"/>
          </a:xfrm>
          <a:prstGeom prst="rect">
            <a:avLst/>
          </a:prstGeom>
          <a:noFill/>
          <a:ln w="0">
            <a:noFill/>
          </a:ln>
        </p:spPr>
        <p:txBody>
          <a:bodyPr anchor="t">
            <a:normAutofit fontScale="92500"/>
          </a:bodyPr>
          <a:lstStyle/>
          <a:p>
            <a:pPr algn="l">
              <a:defRPr sz="1575" b="0">
                <a:solidFill>
                  <a:srgbClr val="FFFFFF"/>
                </a:solidFill>
                <a:latin typeface="Nimbus Sans"/>
                <a:ea typeface="Nimbus Sans"/>
                <a:cs typeface="Nimbus Sans"/>
              </a:defRPr>
            </a:pPr>
            <a:r>
              <a:rPr sz="1575" b="0" dirty="0">
                <a:solidFill>
                  <a:srgbClr val="FFFFFF"/>
                </a:solidFill>
                <a:latin typeface="Nimbus Sans"/>
                <a:ea typeface="Nimbus Sans"/>
                <a:cs typeface="Nimbus Sans"/>
              </a:rPr>
              <a:t>Chaim </a:t>
            </a:r>
            <a:r>
              <a:rPr lang="en-US" sz="1575" b="0">
                <a:solidFill>
                  <a:srgbClr val="FFFFFF"/>
                </a:solidFill>
                <a:latin typeface="Nimbus Sans"/>
                <a:ea typeface="Nimbus Sans"/>
                <a:cs typeface="Nimbus Sans"/>
              </a:rPr>
              <a:t>1</a:t>
            </a:r>
            <a:r>
              <a:rPr lang="en-US" sz="1575" b="0" baseline="30000">
                <a:solidFill>
                  <a:srgbClr val="FFFFFF"/>
                </a:solidFill>
                <a:latin typeface="Nimbus Sans"/>
                <a:ea typeface="Nimbus Sans"/>
                <a:cs typeface="Nimbus Sans"/>
              </a:rPr>
              <a:t>st</a:t>
            </a:r>
            <a:r>
              <a:rPr lang="en-US" sz="1575" b="0">
                <a:solidFill>
                  <a:srgbClr val="FFFFFF"/>
                </a:solidFill>
                <a:latin typeface="Nimbus Sans"/>
                <a:ea typeface="Nimbus Sans"/>
                <a:cs typeface="Nimbus Sans"/>
              </a:rPr>
              <a:t> Presenter;</a:t>
            </a:r>
            <a:r>
              <a:rPr sz="1575" b="0">
                <a:solidFill>
                  <a:srgbClr val="FFFFFF"/>
                </a:solidFill>
                <a:latin typeface="Nimbus Sans"/>
                <a:ea typeface="Nimbus Sans"/>
                <a:cs typeface="Nimbus Sans"/>
              </a:rPr>
              <a:t> </a:t>
            </a:r>
            <a:r>
              <a:rPr sz="1575" b="0" dirty="0">
                <a:solidFill>
                  <a:srgbClr val="FFFFFF"/>
                </a:solidFill>
                <a:latin typeface="Nimbus Sans"/>
                <a:ea typeface="Nimbus Sans"/>
                <a:cs typeface="Nimbus Sans"/>
              </a:rPr>
              <a:t>Nathan</a:t>
            </a:r>
            <a:r>
              <a:rPr lang="en-US" sz="1575" b="0" dirty="0">
                <a:solidFill>
                  <a:srgbClr val="FFFFFF"/>
                </a:solidFill>
                <a:latin typeface="Nimbus Sans"/>
                <a:ea typeface="Nimbus Sans"/>
                <a:cs typeface="Nimbus Sans"/>
              </a:rPr>
              <a:t> </a:t>
            </a:r>
            <a:r>
              <a:rPr lang="en-US" sz="1575" b="0">
                <a:solidFill>
                  <a:srgbClr val="FFFFFF"/>
                </a:solidFill>
                <a:latin typeface="Nimbus Sans"/>
                <a:ea typeface="Nimbus Sans"/>
                <a:cs typeface="Nimbus Sans"/>
              </a:rPr>
              <a:t>2</a:t>
            </a:r>
            <a:r>
              <a:rPr lang="en-US" sz="1575" b="0" baseline="30000">
                <a:solidFill>
                  <a:srgbClr val="FFFFFF"/>
                </a:solidFill>
                <a:latin typeface="Nimbus Sans"/>
                <a:ea typeface="Nimbus Sans"/>
                <a:cs typeface="Nimbus Sans"/>
              </a:rPr>
              <a:t>nd</a:t>
            </a:r>
            <a:r>
              <a:rPr lang="en-US" sz="1575" b="0">
                <a:solidFill>
                  <a:srgbClr val="FFFFFF"/>
                </a:solidFill>
                <a:latin typeface="Nimbus Sans"/>
                <a:ea typeface="Nimbus Sans"/>
                <a:cs typeface="Nimbus Sans"/>
              </a:rPr>
              <a:t> Presenter;</a:t>
            </a:r>
            <a:r>
              <a:rPr sz="1575" b="0">
                <a:solidFill>
                  <a:srgbClr val="FFFFFF"/>
                </a:solidFill>
                <a:latin typeface="Nimbus Sans"/>
                <a:ea typeface="Nimbus Sans"/>
                <a:cs typeface="Nimbus Sans"/>
              </a:rPr>
              <a:t>  </a:t>
            </a:r>
            <a:r>
              <a:rPr sz="1575" b="0" dirty="0">
                <a:solidFill>
                  <a:srgbClr val="FFFFFF"/>
                </a:solidFill>
                <a:latin typeface="Nimbus Sans"/>
                <a:ea typeface="Nimbus Sans"/>
                <a:cs typeface="Nimbus Sans"/>
              </a:rPr>
              <a:t>Arvin</a:t>
            </a:r>
            <a:r>
              <a:rPr lang="en-US" sz="1575" b="0" dirty="0">
                <a:solidFill>
                  <a:srgbClr val="FFFFFF"/>
                </a:solidFill>
                <a:latin typeface="Nimbus Sans"/>
                <a:ea typeface="Nimbus Sans"/>
                <a:cs typeface="Nimbus Sans"/>
              </a:rPr>
              <a:t> 3</a:t>
            </a:r>
            <a:r>
              <a:rPr lang="en-US" sz="1575" b="0" baseline="30000" dirty="0">
                <a:solidFill>
                  <a:srgbClr val="FFFFFF"/>
                </a:solidFill>
                <a:latin typeface="Nimbus Sans"/>
                <a:ea typeface="Nimbus Sans"/>
                <a:cs typeface="Nimbus Sans"/>
              </a:rPr>
              <a:t>rd</a:t>
            </a:r>
            <a:r>
              <a:rPr lang="en-US" sz="1575" b="0" dirty="0">
                <a:solidFill>
                  <a:srgbClr val="FFFFFF"/>
                </a:solidFill>
                <a:latin typeface="Nimbus Sans"/>
                <a:ea typeface="Nimbus Sans"/>
                <a:cs typeface="Nimbus Sans"/>
              </a:rPr>
              <a:t> Presenter;</a:t>
            </a:r>
            <a:r>
              <a:rPr sz="1575" b="0" dirty="0">
                <a:solidFill>
                  <a:srgbClr val="FFFFFF"/>
                </a:solidFill>
                <a:latin typeface="Nimbus Sans"/>
                <a:ea typeface="Nimbus Sans"/>
                <a:cs typeface="Nimbus Sans"/>
              </a:rPr>
              <a:t>  Erika</a:t>
            </a:r>
            <a:r>
              <a:rPr lang="en-US" sz="1575" b="0" dirty="0">
                <a:solidFill>
                  <a:srgbClr val="FFFFFF"/>
                </a:solidFill>
                <a:latin typeface="Nimbus Sans"/>
                <a:ea typeface="Nimbus Sans"/>
                <a:cs typeface="Nimbus Sans"/>
              </a:rPr>
              <a:t> </a:t>
            </a:r>
            <a:r>
              <a:rPr lang="en-US" sz="1575" b="0">
                <a:solidFill>
                  <a:srgbClr val="FFFFFF"/>
                </a:solidFill>
                <a:latin typeface="Nimbus Sans"/>
                <a:ea typeface="Nimbus Sans"/>
                <a:cs typeface="Nimbus Sans"/>
              </a:rPr>
              <a:t>4</a:t>
            </a:r>
            <a:r>
              <a:rPr lang="en-US" sz="1575" b="0" baseline="30000">
                <a:solidFill>
                  <a:srgbClr val="FFFFFF"/>
                </a:solidFill>
                <a:latin typeface="Nimbus Sans"/>
                <a:ea typeface="Nimbus Sans"/>
                <a:cs typeface="Nimbus Sans"/>
              </a:rPr>
              <a:t>th</a:t>
            </a:r>
            <a:r>
              <a:rPr lang="en-US" sz="1575" b="0">
                <a:solidFill>
                  <a:srgbClr val="FFFFFF"/>
                </a:solidFill>
                <a:latin typeface="Nimbus Sans"/>
                <a:ea typeface="Nimbus Sans"/>
                <a:cs typeface="Nimbus Sans"/>
              </a:rPr>
              <a:t> Presenter</a:t>
            </a:r>
            <a:endParaRPr sz="1575" b="0" dirty="0">
              <a:solidFill>
                <a:srgbClr val="FFFFFF"/>
              </a:solidFill>
              <a:latin typeface="Nimbus Sans"/>
              <a:ea typeface="Nimbus Sans"/>
              <a:cs typeface="Nimbus Sans"/>
            </a:endParaRPr>
          </a:p>
        </p:txBody>
      </p:sp>
      <p:sp>
        <p:nvSpPr>
          <p:cNvPr id="7" name="Rectangle 6">
            <a:extLst>
              <a:ext uri="{FF2B5EF4-FFF2-40B4-BE49-F238E27FC236}">
                <a16:creationId xmlns:a16="http://schemas.microsoft.com/office/drawing/2014/main" id="{77C059BE-2FE9-46A3-88D5-FAAFAC21C2EC}"/>
              </a:ext>
            </a:extLst>
          </p:cNvPr>
          <p:cNvSpPr>
            <a:spLocks noGrp="1"/>
          </p:cNvSpPr>
          <p:nvPr/>
        </p:nvSpPr>
        <p:spPr>
          <a:xfrm>
            <a:off x="685800" y="5762625"/>
            <a:ext cx="7429500" cy="266700"/>
          </a:xfrm>
          <a:prstGeom prst="rect">
            <a:avLst/>
          </a:prstGeom>
          <a:noFill/>
          <a:ln w="0">
            <a:noFill/>
          </a:ln>
        </p:spPr>
        <p:txBody>
          <a:bodyPr anchor="t">
            <a:normAutofit fontScale="95833"/>
          </a:bodyPr>
          <a:lstStyle/>
          <a:p>
            <a:pPr algn="l">
              <a:defRPr sz="1200" b="0">
                <a:solidFill>
                  <a:srgbClr val="C7CDDD"/>
                </a:solidFill>
                <a:latin typeface="Nimbus Sans"/>
                <a:ea typeface="Nimbus Sans"/>
                <a:cs typeface="Nimbus Sans"/>
              </a:defRPr>
            </a:pPr>
            <a:r>
              <a:rPr sz="1200" b="0">
                <a:solidFill>
                  <a:srgbClr val="C7CDDD"/>
                </a:solidFill>
                <a:latin typeface="Nimbus Sans"/>
                <a:ea typeface="Nimbus Sans"/>
                <a:cs typeface="Nimbus Sans"/>
              </a:rPr>
              <a:t>Foodpanda restaurant-listing dataset collected in 2025</a:t>
            </a:r>
          </a:p>
        </p:txBody>
      </p:sp>
      <p:sp>
        <p:nvSpPr>
          <p:cNvPr id="9" name="TextBox 8">
            <a:extLst>
              <a:ext uri="{FF2B5EF4-FFF2-40B4-BE49-F238E27FC236}">
                <a16:creationId xmlns:a16="http://schemas.microsoft.com/office/drawing/2014/main" id="{4E66FE1B-9F7C-893E-9D3F-0AFCD69BD49F}"/>
              </a:ext>
            </a:extLst>
          </p:cNvPr>
          <p:cNvSpPr txBox="1"/>
          <p:nvPr/>
        </p:nvSpPr>
        <p:spPr>
          <a:xfrm>
            <a:off x="2975956" y="5386647"/>
            <a:ext cx="184731" cy="369332"/>
          </a:xfrm>
          <a:prstGeom prst="rect">
            <a:avLst/>
          </a:prstGeom>
          <a:noFill/>
        </p:spPr>
        <p:txBody>
          <a:bodyPr wrap="none" rtlCol="0">
            <a:spAutoFit/>
          </a:bodyPr>
          <a:lstStyle/>
          <a:p>
            <a:endParaRPr lang="en-MY" dirty="0"/>
          </a:p>
        </p:txBody>
      </p:sp>
    </p:spTree>
    <p:extLst>
      <p:ext uri="{BB962C8B-B14F-4D97-AF65-F5344CB8AC3E}">
        <p14:creationId xmlns:p14="http://schemas.microsoft.com/office/powerpoint/2010/main" val="1447870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7CFD3F-AB79-41B0-93BE-6C14786D0FFD}"/>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Study scope and general objective</a:t>
            </a:r>
          </a:p>
        </p:txBody>
      </p:sp>
      <p:sp>
        <p:nvSpPr>
          <p:cNvPr id="2" name="Rectangle 1">
            <a:extLst>
              <a:ext uri="{FF2B5EF4-FFF2-40B4-BE49-F238E27FC236}">
                <a16:creationId xmlns:a16="http://schemas.microsoft.com/office/drawing/2014/main" id="{4D9B9166-5992-42F5-B413-AEC606B2105D}"/>
              </a:ext>
            </a:extLst>
          </p:cNvPr>
          <p:cNvSpPr>
            <a:spLocks noGrp="1"/>
          </p:cNvSpPr>
          <p:nvPr/>
        </p:nvSpPr>
        <p:spPr>
          <a:xfrm>
            <a:off x="514350" y="962025"/>
            <a:ext cx="11125200" cy="28575"/>
          </a:xfrm>
          <a:prstGeom prst="rect">
            <a:avLst/>
          </a:prstGeom>
          <a:solidFill>
            <a:srgbClr val="F3A321"/>
          </a:solidFill>
          <a:ln w="0">
            <a:noFill/>
          </a:ln>
        </p:spPr>
      </p:sp>
      <p:sp>
        <p:nvSpPr>
          <p:cNvPr id="4" name="Rectangle 3">
            <a:extLst>
              <a:ext uri="{FF2B5EF4-FFF2-40B4-BE49-F238E27FC236}">
                <a16:creationId xmlns:a16="http://schemas.microsoft.com/office/drawing/2014/main" id="{D5B279E3-FEEB-4DB2-BB3F-9C306916ED71}"/>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5" name="Rectangle 4">
            <a:extLst>
              <a:ext uri="{FF2B5EF4-FFF2-40B4-BE49-F238E27FC236}">
                <a16:creationId xmlns:a16="http://schemas.microsoft.com/office/drawing/2014/main" id="{0237F56D-0FB9-490E-B4A2-CDF3D0199267}"/>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2</a:t>
            </a:r>
          </a:p>
        </p:txBody>
      </p:sp>
      <p:sp>
        <p:nvSpPr>
          <p:cNvPr id="6" name="Rectangle 5">
            <a:extLst>
              <a:ext uri="{FF2B5EF4-FFF2-40B4-BE49-F238E27FC236}">
                <a16:creationId xmlns:a16="http://schemas.microsoft.com/office/drawing/2014/main" id="{36095130-2AE8-42C2-970F-B60673CD2B66}"/>
              </a:ext>
            </a:extLst>
          </p:cNvPr>
          <p:cNvSpPr>
            <a:spLocks noGrp="1"/>
          </p:cNvSpPr>
          <p:nvPr/>
        </p:nvSpPr>
        <p:spPr>
          <a:xfrm>
            <a:off x="609600" y="1390650"/>
            <a:ext cx="3143250" cy="323850"/>
          </a:xfrm>
          <a:prstGeom prst="rect">
            <a:avLst/>
          </a:prstGeom>
          <a:noFill/>
          <a:ln w="0">
            <a:noFill/>
          </a:ln>
        </p:spPr>
        <p:txBody>
          <a:bodyPr anchor="t">
            <a:normAutofit/>
          </a:bodyPr>
          <a:lstStyle/>
          <a:p>
            <a:pPr algn="l">
              <a:defRPr sz="1275" b="1">
                <a:solidFill>
                  <a:srgbClr val="F3A321"/>
                </a:solidFill>
                <a:latin typeface="Nimbus Sans"/>
                <a:ea typeface="Nimbus Sans"/>
                <a:cs typeface="Nimbus Sans"/>
              </a:defRPr>
            </a:pPr>
            <a:r>
              <a:rPr sz="1275" b="1">
                <a:solidFill>
                  <a:srgbClr val="F3A321"/>
                </a:solidFill>
                <a:latin typeface="Nimbus Sans"/>
                <a:ea typeface="Nimbus Sans"/>
                <a:cs typeface="Nimbus Sans"/>
              </a:rPr>
              <a:t>GENERAL OBJECTIVE</a:t>
            </a:r>
          </a:p>
        </p:txBody>
      </p:sp>
      <p:sp>
        <p:nvSpPr>
          <p:cNvPr id="7" name="Rectangle 6">
            <a:extLst>
              <a:ext uri="{FF2B5EF4-FFF2-40B4-BE49-F238E27FC236}">
                <a16:creationId xmlns:a16="http://schemas.microsoft.com/office/drawing/2014/main" id="{7128442A-52C2-4DC4-9ECF-E40029E3C3A2}"/>
              </a:ext>
            </a:extLst>
          </p:cNvPr>
          <p:cNvSpPr>
            <a:spLocks noGrp="1"/>
          </p:cNvSpPr>
          <p:nvPr/>
        </p:nvSpPr>
        <p:spPr>
          <a:xfrm>
            <a:off x="609600" y="1885950"/>
            <a:ext cx="6762750" cy="2857500"/>
          </a:xfrm>
          <a:prstGeom prst="rect">
            <a:avLst/>
          </a:prstGeom>
          <a:noFill/>
          <a:ln w="0">
            <a:noFill/>
          </a:ln>
        </p:spPr>
        <p:txBody>
          <a:bodyPr anchor="t">
            <a:normAutofit/>
          </a:bodyPr>
          <a:lstStyle/>
          <a:p>
            <a:pPr algn="l">
              <a:defRPr sz="2250" b="0">
                <a:solidFill>
                  <a:srgbClr val="202A63"/>
                </a:solidFill>
                <a:latin typeface="Nimbus Sans"/>
                <a:ea typeface="Nimbus Sans"/>
                <a:cs typeface="Nimbus Sans"/>
              </a:defRPr>
            </a:pPr>
            <a:r>
              <a:rPr sz="2250" b="0">
                <a:solidFill>
                  <a:srgbClr val="202A63"/>
                </a:solidFill>
                <a:latin typeface="Nimbus Sans"/>
                <a:ea typeface="Nimbus Sans"/>
                <a:cs typeface="Nimbus Sans"/>
              </a:rPr>
              <a:t>To analyze the Philippine restaurant landscape across selected cities by examining food-type diversity, customer engagement, and the distribution of restaurant listings using a dataset of Foodpanda restaurant listings collected in 2025.</a:t>
            </a:r>
          </a:p>
        </p:txBody>
      </p:sp>
      <p:sp>
        <p:nvSpPr>
          <p:cNvPr id="8" name="Rectangle 7">
            <a:extLst>
              <a:ext uri="{FF2B5EF4-FFF2-40B4-BE49-F238E27FC236}">
                <a16:creationId xmlns:a16="http://schemas.microsoft.com/office/drawing/2014/main" id="{A63CC6E4-ED6D-4F35-AFEC-AF72B78753B8}"/>
              </a:ext>
            </a:extLst>
          </p:cNvPr>
          <p:cNvSpPr>
            <a:spLocks noGrp="1"/>
          </p:cNvSpPr>
          <p:nvPr/>
        </p:nvSpPr>
        <p:spPr>
          <a:xfrm>
            <a:off x="7886700" y="1485900"/>
            <a:ext cx="38100" cy="3905250"/>
          </a:xfrm>
          <a:prstGeom prst="rect">
            <a:avLst/>
          </a:prstGeom>
          <a:solidFill>
            <a:srgbClr val="1769AA"/>
          </a:solidFill>
          <a:ln w="0">
            <a:noFill/>
          </a:ln>
        </p:spPr>
      </p:sp>
      <p:sp>
        <p:nvSpPr>
          <p:cNvPr id="9" name="Rectangle 8">
            <a:extLst>
              <a:ext uri="{FF2B5EF4-FFF2-40B4-BE49-F238E27FC236}">
                <a16:creationId xmlns:a16="http://schemas.microsoft.com/office/drawing/2014/main" id="{9DC02EF1-FAD4-4C91-8DBB-6963415006EA}"/>
              </a:ext>
            </a:extLst>
          </p:cNvPr>
          <p:cNvSpPr>
            <a:spLocks noGrp="1"/>
          </p:cNvSpPr>
          <p:nvPr/>
        </p:nvSpPr>
        <p:spPr>
          <a:xfrm>
            <a:off x="8324850" y="1562100"/>
            <a:ext cx="2857500" cy="381000"/>
          </a:xfrm>
          <a:prstGeom prst="rect">
            <a:avLst/>
          </a:prstGeom>
          <a:noFill/>
          <a:ln w="0">
            <a:noFill/>
          </a:ln>
        </p:spPr>
        <p:txBody>
          <a:bodyPr anchor="t">
            <a:normAutofit/>
          </a:bodyPr>
          <a:lstStyle/>
          <a:p>
            <a:pPr algn="l">
              <a:defRPr sz="1800" b="1">
                <a:solidFill>
                  <a:srgbClr val="1769AA"/>
                </a:solidFill>
                <a:latin typeface="Nimbus Sans"/>
                <a:ea typeface="Nimbus Sans"/>
                <a:cs typeface="Nimbus Sans"/>
              </a:defRPr>
            </a:pPr>
            <a:r>
              <a:rPr sz="1800" b="1">
                <a:solidFill>
                  <a:srgbClr val="1769AA"/>
                </a:solidFill>
                <a:latin typeface="Nimbus Sans"/>
                <a:ea typeface="Nimbus Sans"/>
                <a:cs typeface="Nimbus Sans"/>
              </a:rPr>
              <a:t>Scope of the findings</a:t>
            </a:r>
          </a:p>
        </p:txBody>
      </p:sp>
      <p:sp>
        <p:nvSpPr>
          <p:cNvPr id="10" name="Rectangle 9">
            <a:extLst>
              <a:ext uri="{FF2B5EF4-FFF2-40B4-BE49-F238E27FC236}">
                <a16:creationId xmlns:a16="http://schemas.microsoft.com/office/drawing/2014/main" id="{79368FB6-C60A-433A-9D1A-5BE27B9F7FCB}"/>
              </a:ext>
            </a:extLst>
          </p:cNvPr>
          <p:cNvSpPr>
            <a:spLocks noGrp="1"/>
          </p:cNvSpPr>
          <p:nvPr/>
        </p:nvSpPr>
        <p:spPr>
          <a:xfrm>
            <a:off x="8324850" y="2190750"/>
            <a:ext cx="2857500" cy="2667000"/>
          </a:xfrm>
          <a:prstGeom prst="rect">
            <a:avLst/>
          </a:prstGeom>
          <a:noFill/>
          <a:ln w="0">
            <a:noFill/>
          </a:ln>
        </p:spPr>
        <p:txBody>
          <a:bodyPr anchor="t">
            <a:normAutofit/>
          </a:bodyPr>
          <a:lstStyle/>
          <a:p>
            <a:pPr algn="l">
              <a:defRPr sz="1650" b="0">
                <a:solidFill>
                  <a:srgbClr val="1E2633"/>
                </a:solidFill>
                <a:latin typeface="Nimbus Sans"/>
                <a:ea typeface="Nimbus Sans"/>
                <a:cs typeface="Nimbus Sans"/>
              </a:defRPr>
            </a:pPr>
            <a:r>
              <a:rPr sz="1650" b="0">
                <a:solidFill>
                  <a:srgbClr val="1E2633"/>
                </a:solidFill>
                <a:latin typeface="Nimbus Sans"/>
                <a:ea typeface="Nimbus Sans"/>
                <a:cs typeface="Nimbus Sans"/>
              </a:rPr>
              <a:t>The study describes restaurant-listing records captured in the dataset.</a:t>
            </a:r>
          </a:p>
          <a:p>
            <a:endParaRPr sz="1650" b="0">
              <a:solidFill>
                <a:srgbClr val="1E2633"/>
              </a:solidFill>
              <a:latin typeface="Nimbus Sans"/>
              <a:ea typeface="Nimbus Sans"/>
              <a:cs typeface="Nimbus Sans"/>
            </a:endParaRPr>
          </a:p>
          <a:p>
            <a:pPr algn="l">
              <a:defRPr sz="1650" b="0">
                <a:solidFill>
                  <a:srgbClr val="1E2633"/>
                </a:solidFill>
                <a:latin typeface="Nimbus Sans"/>
                <a:ea typeface="Nimbus Sans"/>
                <a:cs typeface="Nimbus Sans"/>
              </a:defRPr>
            </a:pPr>
            <a:r>
              <a:rPr sz="1650" b="0">
                <a:solidFill>
                  <a:srgbClr val="1E2633"/>
                </a:solidFill>
                <a:latin typeface="Nimbus Sans"/>
                <a:ea typeface="Nimbus Sans"/>
                <a:cs typeface="Nimbus Sans"/>
              </a:rPr>
              <a:t>It does not estimate every operating restaurant or the eating habits of all Filipinos.</a:t>
            </a:r>
          </a:p>
        </p:txBody>
      </p:sp>
    </p:spTree>
    <p:extLst>
      <p:ext uri="{BB962C8B-B14F-4D97-AF65-F5344CB8AC3E}">
        <p14:creationId xmlns:p14="http://schemas.microsoft.com/office/powerpoint/2010/main" val="1698668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CA73C51-0C3D-4979-BEB3-0B5643A50725}"/>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Six specific objectives</a:t>
            </a:r>
          </a:p>
        </p:txBody>
      </p:sp>
      <p:sp>
        <p:nvSpPr>
          <p:cNvPr id="3" name="Rectangle 2">
            <a:extLst>
              <a:ext uri="{FF2B5EF4-FFF2-40B4-BE49-F238E27FC236}">
                <a16:creationId xmlns:a16="http://schemas.microsoft.com/office/drawing/2014/main" id="{0C7A66ED-D95E-480F-96CB-A367A2609C8C}"/>
              </a:ext>
            </a:extLst>
          </p:cNvPr>
          <p:cNvSpPr>
            <a:spLocks noGrp="1"/>
          </p:cNvSpPr>
          <p:nvPr/>
        </p:nvSpPr>
        <p:spPr>
          <a:xfrm>
            <a:off x="514350" y="1171575"/>
            <a:ext cx="11125200" cy="28575"/>
          </a:xfrm>
          <a:prstGeom prst="rect">
            <a:avLst/>
          </a:prstGeom>
          <a:solidFill>
            <a:srgbClr val="F3A321"/>
          </a:solidFill>
          <a:ln w="0">
            <a:noFill/>
          </a:ln>
        </p:spPr>
      </p:sp>
      <p:sp>
        <p:nvSpPr>
          <p:cNvPr id="5" name="Rectangle 4">
            <a:extLst>
              <a:ext uri="{FF2B5EF4-FFF2-40B4-BE49-F238E27FC236}">
                <a16:creationId xmlns:a16="http://schemas.microsoft.com/office/drawing/2014/main" id="{4BA9791B-9E5F-4E60-B92E-A320B3B528CF}"/>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6" name="Rectangle 5">
            <a:extLst>
              <a:ext uri="{FF2B5EF4-FFF2-40B4-BE49-F238E27FC236}">
                <a16:creationId xmlns:a16="http://schemas.microsoft.com/office/drawing/2014/main" id="{C6796DBE-A89E-4FE8-AE6E-B15A60CAF633}"/>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3</a:t>
            </a:r>
          </a:p>
        </p:txBody>
      </p:sp>
      <p:sp>
        <p:nvSpPr>
          <p:cNvPr id="7" name="Rectangle 6">
            <a:extLst>
              <a:ext uri="{FF2B5EF4-FFF2-40B4-BE49-F238E27FC236}">
                <a16:creationId xmlns:a16="http://schemas.microsoft.com/office/drawing/2014/main" id="{57E031E9-E4AB-4F44-8776-4AE349C2E1EA}"/>
              </a:ext>
            </a:extLst>
          </p:cNvPr>
          <p:cNvSpPr>
            <a:spLocks noGrp="1"/>
          </p:cNvSpPr>
          <p:nvPr/>
        </p:nvSpPr>
        <p:spPr>
          <a:xfrm>
            <a:off x="628650" y="1466850"/>
            <a:ext cx="514350" cy="400050"/>
          </a:xfrm>
          <a:prstGeom prst="rect">
            <a:avLst/>
          </a:prstGeom>
          <a:noFill/>
          <a:ln w="0">
            <a:noFill/>
          </a:ln>
        </p:spPr>
        <p:txBody>
          <a:bodyPr anchor="t">
            <a:normAutofit fontScale="96428"/>
          </a:bodyPr>
          <a:lstStyle/>
          <a:p>
            <a:pPr algn="l">
              <a:defRPr sz="2100" b="1">
                <a:solidFill>
                  <a:srgbClr val="F3A321"/>
                </a:solidFill>
                <a:latin typeface="Nimbus Sans"/>
                <a:ea typeface="Nimbus Sans"/>
                <a:cs typeface="Nimbus Sans"/>
              </a:defRPr>
            </a:pPr>
            <a:r>
              <a:rPr sz="2100" b="1">
                <a:solidFill>
                  <a:srgbClr val="F3A321"/>
                </a:solidFill>
                <a:latin typeface="Nimbus Sans"/>
                <a:ea typeface="Nimbus Sans"/>
                <a:cs typeface="Nimbus Sans"/>
              </a:rPr>
              <a:t>01</a:t>
            </a:r>
          </a:p>
        </p:txBody>
      </p:sp>
      <p:sp>
        <p:nvSpPr>
          <p:cNvPr id="8" name="Rectangle 7">
            <a:extLst>
              <a:ext uri="{FF2B5EF4-FFF2-40B4-BE49-F238E27FC236}">
                <a16:creationId xmlns:a16="http://schemas.microsoft.com/office/drawing/2014/main" id="{F99AF46D-6FAF-4A0F-903C-EF3DC86D4B90}"/>
              </a:ext>
            </a:extLst>
          </p:cNvPr>
          <p:cNvSpPr>
            <a:spLocks noGrp="1"/>
          </p:cNvSpPr>
          <p:nvPr/>
        </p:nvSpPr>
        <p:spPr>
          <a:xfrm>
            <a:off x="1295400" y="1466850"/>
            <a:ext cx="4381500" cy="323850"/>
          </a:xfrm>
          <a:prstGeom prst="rect">
            <a:avLst/>
          </a:prstGeom>
          <a:noFill/>
          <a:ln w="0">
            <a:noFill/>
          </a:ln>
        </p:spPr>
        <p:txBody>
          <a:bodyPr anchor="t">
            <a:normAutofit fontScale="88406"/>
          </a:bodyPr>
          <a:lstStyle/>
          <a:p>
            <a:pPr algn="l">
              <a:defRPr sz="1725" b="1">
                <a:solidFill>
                  <a:srgbClr val="202A63"/>
                </a:solidFill>
                <a:latin typeface="Nimbus Sans"/>
                <a:ea typeface="Nimbus Sans"/>
                <a:cs typeface="Nimbus Sans"/>
              </a:defRPr>
            </a:pPr>
            <a:r>
              <a:rPr sz="1725" b="1">
                <a:solidFill>
                  <a:srgbClr val="202A63"/>
                </a:solidFill>
                <a:latin typeface="Nimbus Sans"/>
                <a:ea typeface="Nimbus Sans"/>
                <a:cs typeface="Nimbus Sans"/>
              </a:rPr>
              <a:t>Clean and prepare</a:t>
            </a:r>
          </a:p>
        </p:txBody>
      </p:sp>
      <p:sp>
        <p:nvSpPr>
          <p:cNvPr id="9" name="Rectangle 8">
            <a:extLst>
              <a:ext uri="{FF2B5EF4-FFF2-40B4-BE49-F238E27FC236}">
                <a16:creationId xmlns:a16="http://schemas.microsoft.com/office/drawing/2014/main" id="{FD9D8CA0-3CCF-4995-BD23-8DB9EB5E53A8}"/>
              </a:ext>
            </a:extLst>
          </p:cNvPr>
          <p:cNvSpPr>
            <a:spLocks noGrp="1"/>
          </p:cNvSpPr>
          <p:nvPr/>
        </p:nvSpPr>
        <p:spPr>
          <a:xfrm>
            <a:off x="1295400" y="1876425"/>
            <a:ext cx="4476750" cy="762000"/>
          </a:xfrm>
          <a:prstGeom prst="rect">
            <a:avLst/>
          </a:prstGeom>
          <a:noFill/>
          <a:ln w="0">
            <a:noFill/>
          </a:ln>
        </p:spPr>
        <p:txBody>
          <a:bodyPr anchor="t">
            <a:normAutofit/>
          </a:bodyPr>
          <a:lstStyle/>
          <a:p>
            <a:pPr algn="l">
              <a:defRPr sz="1275" b="0">
                <a:solidFill>
                  <a:srgbClr val="1E2633"/>
                </a:solidFill>
                <a:latin typeface="Nimbus Sans"/>
                <a:ea typeface="Nimbus Sans"/>
                <a:cs typeface="Nimbus Sans"/>
              </a:defRPr>
            </a:pPr>
            <a:r>
              <a:rPr sz="1275" b="0">
                <a:solidFill>
                  <a:srgbClr val="1E2633"/>
                </a:solidFill>
                <a:latin typeface="Nimbus Sans"/>
                <a:ea typeface="Nimbus Sans"/>
                <a:cs typeface="Nimbus Sans"/>
              </a:rPr>
              <a:t>Document missing values, repeated IDs, unrated listings, text issues, and unusual reviewer counts.</a:t>
            </a:r>
          </a:p>
        </p:txBody>
      </p:sp>
      <p:sp>
        <p:nvSpPr>
          <p:cNvPr id="10" name="Rectangle 9">
            <a:extLst>
              <a:ext uri="{FF2B5EF4-FFF2-40B4-BE49-F238E27FC236}">
                <a16:creationId xmlns:a16="http://schemas.microsoft.com/office/drawing/2014/main" id="{F1368CB5-61FF-4B78-B361-EC192D00F674}"/>
              </a:ext>
            </a:extLst>
          </p:cNvPr>
          <p:cNvSpPr>
            <a:spLocks noGrp="1"/>
          </p:cNvSpPr>
          <p:nvPr/>
        </p:nvSpPr>
        <p:spPr>
          <a:xfrm>
            <a:off x="628650" y="2781300"/>
            <a:ext cx="5048250" cy="9525"/>
          </a:xfrm>
          <a:prstGeom prst="rect">
            <a:avLst/>
          </a:prstGeom>
          <a:solidFill>
            <a:srgbClr val="D5DAE1"/>
          </a:solidFill>
          <a:ln w="0">
            <a:noFill/>
          </a:ln>
        </p:spPr>
      </p:sp>
      <p:sp>
        <p:nvSpPr>
          <p:cNvPr id="11" name="Rectangle 10">
            <a:extLst>
              <a:ext uri="{FF2B5EF4-FFF2-40B4-BE49-F238E27FC236}">
                <a16:creationId xmlns:a16="http://schemas.microsoft.com/office/drawing/2014/main" id="{71AAE6B3-0D29-40D2-B191-A46521EF6114}"/>
              </a:ext>
            </a:extLst>
          </p:cNvPr>
          <p:cNvSpPr>
            <a:spLocks noGrp="1"/>
          </p:cNvSpPr>
          <p:nvPr/>
        </p:nvSpPr>
        <p:spPr>
          <a:xfrm>
            <a:off x="6324600" y="1466850"/>
            <a:ext cx="514350" cy="400050"/>
          </a:xfrm>
          <a:prstGeom prst="rect">
            <a:avLst/>
          </a:prstGeom>
          <a:noFill/>
          <a:ln w="0">
            <a:noFill/>
          </a:ln>
        </p:spPr>
        <p:txBody>
          <a:bodyPr anchor="t">
            <a:normAutofit fontScale="96428"/>
          </a:bodyPr>
          <a:lstStyle/>
          <a:p>
            <a:pPr algn="l">
              <a:defRPr sz="2100" b="1">
                <a:solidFill>
                  <a:srgbClr val="1769AA"/>
                </a:solidFill>
                <a:latin typeface="Nimbus Sans"/>
                <a:ea typeface="Nimbus Sans"/>
                <a:cs typeface="Nimbus Sans"/>
              </a:defRPr>
            </a:pPr>
            <a:r>
              <a:rPr sz="2100" b="1">
                <a:solidFill>
                  <a:srgbClr val="1769AA"/>
                </a:solidFill>
                <a:latin typeface="Nimbus Sans"/>
                <a:ea typeface="Nimbus Sans"/>
                <a:cs typeface="Nimbus Sans"/>
              </a:rPr>
              <a:t>02</a:t>
            </a:r>
          </a:p>
        </p:txBody>
      </p:sp>
      <p:sp>
        <p:nvSpPr>
          <p:cNvPr id="12" name="Rectangle 11">
            <a:extLst>
              <a:ext uri="{FF2B5EF4-FFF2-40B4-BE49-F238E27FC236}">
                <a16:creationId xmlns:a16="http://schemas.microsoft.com/office/drawing/2014/main" id="{84A017C9-E7A2-47F1-9EAC-39EE00D92E64}"/>
              </a:ext>
            </a:extLst>
          </p:cNvPr>
          <p:cNvSpPr>
            <a:spLocks noGrp="1"/>
          </p:cNvSpPr>
          <p:nvPr/>
        </p:nvSpPr>
        <p:spPr>
          <a:xfrm>
            <a:off x="6991350" y="1466850"/>
            <a:ext cx="4381500" cy="323850"/>
          </a:xfrm>
          <a:prstGeom prst="rect">
            <a:avLst/>
          </a:prstGeom>
          <a:noFill/>
          <a:ln w="0">
            <a:noFill/>
          </a:ln>
        </p:spPr>
        <p:txBody>
          <a:bodyPr anchor="t">
            <a:normAutofit fontScale="88406"/>
          </a:bodyPr>
          <a:lstStyle/>
          <a:p>
            <a:pPr algn="l">
              <a:defRPr sz="1725" b="1">
                <a:solidFill>
                  <a:srgbClr val="202A63"/>
                </a:solidFill>
                <a:latin typeface="Nimbus Sans"/>
                <a:ea typeface="Nimbus Sans"/>
                <a:cs typeface="Nimbus Sans"/>
              </a:defRPr>
            </a:pPr>
            <a:r>
              <a:rPr sz="1725" b="1">
                <a:solidFill>
                  <a:srgbClr val="202A63"/>
                </a:solidFill>
                <a:latin typeface="Nimbus Sans"/>
                <a:ea typeface="Nimbus Sans"/>
                <a:cs typeface="Nimbus Sans"/>
              </a:rPr>
              <a:t>Compare food-type diversity</a:t>
            </a:r>
          </a:p>
        </p:txBody>
      </p:sp>
      <p:sp>
        <p:nvSpPr>
          <p:cNvPr id="13" name="Rectangle 12">
            <a:extLst>
              <a:ext uri="{FF2B5EF4-FFF2-40B4-BE49-F238E27FC236}">
                <a16:creationId xmlns:a16="http://schemas.microsoft.com/office/drawing/2014/main" id="{F3DC4402-1E3D-4EDE-9F12-2FB1BA095917}"/>
              </a:ext>
            </a:extLst>
          </p:cNvPr>
          <p:cNvSpPr>
            <a:spLocks noGrp="1"/>
          </p:cNvSpPr>
          <p:nvPr/>
        </p:nvSpPr>
        <p:spPr>
          <a:xfrm>
            <a:off x="6991350" y="1876425"/>
            <a:ext cx="4476750" cy="762000"/>
          </a:xfrm>
          <a:prstGeom prst="rect">
            <a:avLst/>
          </a:prstGeom>
          <a:noFill/>
          <a:ln w="0">
            <a:noFill/>
          </a:ln>
        </p:spPr>
        <p:txBody>
          <a:bodyPr anchor="t">
            <a:normAutofit/>
          </a:bodyPr>
          <a:lstStyle/>
          <a:p>
            <a:pPr algn="l">
              <a:defRPr sz="1275" b="0">
                <a:solidFill>
                  <a:srgbClr val="1E2633"/>
                </a:solidFill>
                <a:latin typeface="Nimbus Sans"/>
                <a:ea typeface="Nimbus Sans"/>
                <a:cs typeface="Nimbus Sans"/>
              </a:defRPr>
            </a:pPr>
            <a:r>
              <a:rPr sz="1275" b="0">
                <a:solidFill>
                  <a:srgbClr val="1E2633"/>
                </a:solidFill>
                <a:latin typeface="Nimbus Sans"/>
                <a:ea typeface="Nimbus Sans"/>
                <a:cs typeface="Nimbus Sans"/>
              </a:rPr>
              <a:t>Measure the number and proportional representation of known food types across cities.</a:t>
            </a:r>
          </a:p>
        </p:txBody>
      </p:sp>
      <p:sp>
        <p:nvSpPr>
          <p:cNvPr id="14" name="Rectangle 13">
            <a:extLst>
              <a:ext uri="{FF2B5EF4-FFF2-40B4-BE49-F238E27FC236}">
                <a16:creationId xmlns:a16="http://schemas.microsoft.com/office/drawing/2014/main" id="{335DC6BD-7862-4B5D-BFD1-CDD2BDF60001}"/>
              </a:ext>
            </a:extLst>
          </p:cNvPr>
          <p:cNvSpPr>
            <a:spLocks noGrp="1"/>
          </p:cNvSpPr>
          <p:nvPr/>
        </p:nvSpPr>
        <p:spPr>
          <a:xfrm>
            <a:off x="6324600" y="2781300"/>
            <a:ext cx="5048250" cy="9525"/>
          </a:xfrm>
          <a:prstGeom prst="rect">
            <a:avLst/>
          </a:prstGeom>
          <a:solidFill>
            <a:srgbClr val="D5DAE1"/>
          </a:solidFill>
          <a:ln w="0">
            <a:noFill/>
          </a:ln>
        </p:spPr>
      </p:sp>
      <p:sp>
        <p:nvSpPr>
          <p:cNvPr id="15" name="Rectangle 14">
            <a:extLst>
              <a:ext uri="{FF2B5EF4-FFF2-40B4-BE49-F238E27FC236}">
                <a16:creationId xmlns:a16="http://schemas.microsoft.com/office/drawing/2014/main" id="{B5B69A18-DDC4-42DC-9F57-37B66E0F4A85}"/>
              </a:ext>
            </a:extLst>
          </p:cNvPr>
          <p:cNvSpPr>
            <a:spLocks noGrp="1"/>
          </p:cNvSpPr>
          <p:nvPr/>
        </p:nvSpPr>
        <p:spPr>
          <a:xfrm>
            <a:off x="628650" y="3038475"/>
            <a:ext cx="514350" cy="400050"/>
          </a:xfrm>
          <a:prstGeom prst="rect">
            <a:avLst/>
          </a:prstGeom>
          <a:noFill/>
          <a:ln w="0">
            <a:noFill/>
          </a:ln>
        </p:spPr>
        <p:txBody>
          <a:bodyPr anchor="t">
            <a:normAutofit fontScale="96428"/>
          </a:bodyPr>
          <a:lstStyle/>
          <a:p>
            <a:pPr algn="l">
              <a:defRPr sz="2100" b="1">
                <a:solidFill>
                  <a:srgbClr val="F3A321"/>
                </a:solidFill>
                <a:latin typeface="Nimbus Sans"/>
                <a:ea typeface="Nimbus Sans"/>
                <a:cs typeface="Nimbus Sans"/>
              </a:defRPr>
            </a:pPr>
            <a:r>
              <a:rPr sz="2100" b="1">
                <a:solidFill>
                  <a:srgbClr val="F3A321"/>
                </a:solidFill>
                <a:latin typeface="Nimbus Sans"/>
                <a:ea typeface="Nimbus Sans"/>
                <a:cs typeface="Nimbus Sans"/>
              </a:rPr>
              <a:t>03</a:t>
            </a:r>
          </a:p>
        </p:txBody>
      </p:sp>
      <p:sp>
        <p:nvSpPr>
          <p:cNvPr id="16" name="Rectangle 15">
            <a:extLst>
              <a:ext uri="{FF2B5EF4-FFF2-40B4-BE49-F238E27FC236}">
                <a16:creationId xmlns:a16="http://schemas.microsoft.com/office/drawing/2014/main" id="{0222349D-B3E4-4BF8-AA4E-31657D35193E}"/>
              </a:ext>
            </a:extLst>
          </p:cNvPr>
          <p:cNvSpPr>
            <a:spLocks noGrp="1"/>
          </p:cNvSpPr>
          <p:nvPr/>
        </p:nvSpPr>
        <p:spPr>
          <a:xfrm>
            <a:off x="1295400" y="3038475"/>
            <a:ext cx="4381500" cy="323850"/>
          </a:xfrm>
          <a:prstGeom prst="rect">
            <a:avLst/>
          </a:prstGeom>
          <a:noFill/>
          <a:ln w="0">
            <a:noFill/>
          </a:ln>
        </p:spPr>
        <p:txBody>
          <a:bodyPr anchor="t">
            <a:normAutofit fontScale="88406"/>
          </a:bodyPr>
          <a:lstStyle/>
          <a:p>
            <a:pPr algn="l">
              <a:defRPr sz="1725" b="1">
                <a:solidFill>
                  <a:srgbClr val="202A63"/>
                </a:solidFill>
                <a:latin typeface="Nimbus Sans"/>
                <a:ea typeface="Nimbus Sans"/>
                <a:cs typeface="Nimbus Sans"/>
              </a:defRPr>
            </a:pPr>
            <a:r>
              <a:rPr sz="1725" b="1">
                <a:solidFill>
                  <a:srgbClr val="202A63"/>
                </a:solidFill>
                <a:latin typeface="Nimbus Sans"/>
                <a:ea typeface="Nimbus Sans"/>
                <a:cs typeface="Nimbus Sans"/>
              </a:rPr>
              <a:t>Assess customer engagement</a:t>
            </a:r>
          </a:p>
        </p:txBody>
      </p:sp>
      <p:sp>
        <p:nvSpPr>
          <p:cNvPr id="17" name="Rectangle 16">
            <a:extLst>
              <a:ext uri="{FF2B5EF4-FFF2-40B4-BE49-F238E27FC236}">
                <a16:creationId xmlns:a16="http://schemas.microsoft.com/office/drawing/2014/main" id="{3736980F-F402-442B-97BD-384EB9D41A8B}"/>
              </a:ext>
            </a:extLst>
          </p:cNvPr>
          <p:cNvSpPr>
            <a:spLocks noGrp="1"/>
          </p:cNvSpPr>
          <p:nvPr/>
        </p:nvSpPr>
        <p:spPr>
          <a:xfrm>
            <a:off x="1295400" y="3448050"/>
            <a:ext cx="4476750" cy="762000"/>
          </a:xfrm>
          <a:prstGeom prst="rect">
            <a:avLst/>
          </a:prstGeom>
          <a:noFill/>
          <a:ln w="0">
            <a:noFill/>
          </a:ln>
        </p:spPr>
        <p:txBody>
          <a:bodyPr anchor="t">
            <a:normAutofit/>
          </a:bodyPr>
          <a:lstStyle/>
          <a:p>
            <a:pPr algn="l">
              <a:defRPr sz="1275" b="0">
                <a:solidFill>
                  <a:srgbClr val="1E2633"/>
                </a:solidFill>
                <a:latin typeface="Nimbus Sans"/>
                <a:ea typeface="Nimbus Sans"/>
                <a:cs typeface="Nimbus Sans"/>
              </a:defRPr>
            </a:pPr>
            <a:r>
              <a:rPr sz="1275" b="0">
                <a:solidFill>
                  <a:srgbClr val="1E2633"/>
                </a:solidFill>
                <a:latin typeface="Nimbus Sans"/>
                <a:ea typeface="Nimbus Sans"/>
                <a:cs typeface="Nimbus Sans"/>
              </a:rPr>
              <a:t>Compare reviewer counts and average ratings among rated listings.</a:t>
            </a:r>
          </a:p>
        </p:txBody>
      </p:sp>
      <p:sp>
        <p:nvSpPr>
          <p:cNvPr id="18" name="Rectangle 17">
            <a:extLst>
              <a:ext uri="{FF2B5EF4-FFF2-40B4-BE49-F238E27FC236}">
                <a16:creationId xmlns:a16="http://schemas.microsoft.com/office/drawing/2014/main" id="{07BEB4D6-BC14-43B9-905B-85BB8CB49834}"/>
              </a:ext>
            </a:extLst>
          </p:cNvPr>
          <p:cNvSpPr>
            <a:spLocks noGrp="1"/>
          </p:cNvSpPr>
          <p:nvPr/>
        </p:nvSpPr>
        <p:spPr>
          <a:xfrm>
            <a:off x="628650" y="4352925"/>
            <a:ext cx="5048250" cy="9525"/>
          </a:xfrm>
          <a:prstGeom prst="rect">
            <a:avLst/>
          </a:prstGeom>
          <a:solidFill>
            <a:srgbClr val="D5DAE1"/>
          </a:solidFill>
          <a:ln w="0">
            <a:noFill/>
          </a:ln>
        </p:spPr>
      </p:sp>
      <p:sp>
        <p:nvSpPr>
          <p:cNvPr id="19" name="Rectangle 18">
            <a:extLst>
              <a:ext uri="{FF2B5EF4-FFF2-40B4-BE49-F238E27FC236}">
                <a16:creationId xmlns:a16="http://schemas.microsoft.com/office/drawing/2014/main" id="{E87CB271-83DA-4693-9A7E-03711F61B6A3}"/>
              </a:ext>
            </a:extLst>
          </p:cNvPr>
          <p:cNvSpPr>
            <a:spLocks noGrp="1"/>
          </p:cNvSpPr>
          <p:nvPr/>
        </p:nvSpPr>
        <p:spPr>
          <a:xfrm>
            <a:off x="6324600" y="3038475"/>
            <a:ext cx="514350" cy="400050"/>
          </a:xfrm>
          <a:prstGeom prst="rect">
            <a:avLst/>
          </a:prstGeom>
          <a:noFill/>
          <a:ln w="0">
            <a:noFill/>
          </a:ln>
        </p:spPr>
        <p:txBody>
          <a:bodyPr anchor="t">
            <a:normAutofit fontScale="96428"/>
          </a:bodyPr>
          <a:lstStyle/>
          <a:p>
            <a:pPr algn="l">
              <a:defRPr sz="2100" b="1">
                <a:solidFill>
                  <a:srgbClr val="1769AA"/>
                </a:solidFill>
                <a:latin typeface="Nimbus Sans"/>
                <a:ea typeface="Nimbus Sans"/>
                <a:cs typeface="Nimbus Sans"/>
              </a:defRPr>
            </a:pPr>
            <a:r>
              <a:rPr sz="2100" b="1">
                <a:solidFill>
                  <a:srgbClr val="1769AA"/>
                </a:solidFill>
                <a:latin typeface="Nimbus Sans"/>
                <a:ea typeface="Nimbus Sans"/>
                <a:cs typeface="Nimbus Sans"/>
              </a:rPr>
              <a:t>04</a:t>
            </a:r>
          </a:p>
        </p:txBody>
      </p:sp>
      <p:sp>
        <p:nvSpPr>
          <p:cNvPr id="20" name="Rectangle 19">
            <a:extLst>
              <a:ext uri="{FF2B5EF4-FFF2-40B4-BE49-F238E27FC236}">
                <a16:creationId xmlns:a16="http://schemas.microsoft.com/office/drawing/2014/main" id="{4A85D3D9-84C5-479E-97D2-2EBF0D12A85F}"/>
              </a:ext>
            </a:extLst>
          </p:cNvPr>
          <p:cNvSpPr>
            <a:spLocks noGrp="1"/>
          </p:cNvSpPr>
          <p:nvPr/>
        </p:nvSpPr>
        <p:spPr>
          <a:xfrm>
            <a:off x="6991350" y="3038475"/>
            <a:ext cx="4381500" cy="323850"/>
          </a:xfrm>
          <a:prstGeom prst="rect">
            <a:avLst/>
          </a:prstGeom>
          <a:noFill/>
          <a:ln w="0">
            <a:noFill/>
          </a:ln>
        </p:spPr>
        <p:txBody>
          <a:bodyPr anchor="t">
            <a:normAutofit fontScale="88406"/>
          </a:bodyPr>
          <a:lstStyle/>
          <a:p>
            <a:pPr algn="l">
              <a:defRPr sz="1725" b="1">
                <a:solidFill>
                  <a:srgbClr val="202A63"/>
                </a:solidFill>
                <a:latin typeface="Nimbus Sans"/>
                <a:ea typeface="Nimbus Sans"/>
                <a:cs typeface="Nimbus Sans"/>
              </a:defRPr>
            </a:pPr>
            <a:r>
              <a:rPr sz="1725" b="1">
                <a:solidFill>
                  <a:srgbClr val="202A63"/>
                </a:solidFill>
                <a:latin typeface="Nimbus Sans"/>
                <a:ea typeface="Nimbus Sans"/>
                <a:cs typeface="Nimbus Sans"/>
              </a:rPr>
              <a:t>Examine listing distribution</a:t>
            </a:r>
          </a:p>
        </p:txBody>
      </p:sp>
      <p:sp>
        <p:nvSpPr>
          <p:cNvPr id="21" name="Rectangle 20">
            <a:extLst>
              <a:ext uri="{FF2B5EF4-FFF2-40B4-BE49-F238E27FC236}">
                <a16:creationId xmlns:a16="http://schemas.microsoft.com/office/drawing/2014/main" id="{6512A004-7E3D-495E-AF17-6BFCE3268214}"/>
              </a:ext>
            </a:extLst>
          </p:cNvPr>
          <p:cNvSpPr>
            <a:spLocks noGrp="1"/>
          </p:cNvSpPr>
          <p:nvPr/>
        </p:nvSpPr>
        <p:spPr>
          <a:xfrm>
            <a:off x="6991350" y="3448050"/>
            <a:ext cx="4476750" cy="762000"/>
          </a:xfrm>
          <a:prstGeom prst="rect">
            <a:avLst/>
          </a:prstGeom>
          <a:noFill/>
          <a:ln w="0">
            <a:noFill/>
          </a:ln>
        </p:spPr>
        <p:txBody>
          <a:bodyPr anchor="t">
            <a:normAutofit/>
          </a:bodyPr>
          <a:lstStyle/>
          <a:p>
            <a:pPr algn="l">
              <a:defRPr sz="1275" b="0">
                <a:solidFill>
                  <a:srgbClr val="1E2633"/>
                </a:solidFill>
                <a:latin typeface="Nimbus Sans"/>
                <a:ea typeface="Nimbus Sans"/>
                <a:cs typeface="Nimbus Sans"/>
              </a:defRPr>
            </a:pPr>
            <a:r>
              <a:rPr sz="1275" b="0">
                <a:solidFill>
                  <a:srgbClr val="1E2633"/>
                </a:solidFill>
                <a:latin typeface="Nimbus Sans"/>
                <a:ea typeface="Nimbus Sans"/>
                <a:cs typeface="Nimbus Sans"/>
              </a:rPr>
              <a:t>Compare listing counts, percentage shares, and city-by-food-type summaries.</a:t>
            </a:r>
          </a:p>
        </p:txBody>
      </p:sp>
      <p:sp>
        <p:nvSpPr>
          <p:cNvPr id="22" name="Rectangle 21">
            <a:extLst>
              <a:ext uri="{FF2B5EF4-FFF2-40B4-BE49-F238E27FC236}">
                <a16:creationId xmlns:a16="http://schemas.microsoft.com/office/drawing/2014/main" id="{B97B7D25-22EB-438B-8175-AB3F48BB30F4}"/>
              </a:ext>
            </a:extLst>
          </p:cNvPr>
          <p:cNvSpPr>
            <a:spLocks noGrp="1"/>
          </p:cNvSpPr>
          <p:nvPr/>
        </p:nvSpPr>
        <p:spPr>
          <a:xfrm>
            <a:off x="6324600" y="4352925"/>
            <a:ext cx="5048250" cy="9525"/>
          </a:xfrm>
          <a:prstGeom prst="rect">
            <a:avLst/>
          </a:prstGeom>
          <a:solidFill>
            <a:srgbClr val="D5DAE1"/>
          </a:solidFill>
          <a:ln w="0">
            <a:noFill/>
          </a:ln>
        </p:spPr>
      </p:sp>
      <p:sp>
        <p:nvSpPr>
          <p:cNvPr id="23" name="Rectangle 22">
            <a:extLst>
              <a:ext uri="{FF2B5EF4-FFF2-40B4-BE49-F238E27FC236}">
                <a16:creationId xmlns:a16="http://schemas.microsoft.com/office/drawing/2014/main" id="{63368C58-52B5-46B6-A9CB-2FE8137AFAF8}"/>
              </a:ext>
            </a:extLst>
          </p:cNvPr>
          <p:cNvSpPr>
            <a:spLocks noGrp="1"/>
          </p:cNvSpPr>
          <p:nvPr/>
        </p:nvSpPr>
        <p:spPr>
          <a:xfrm>
            <a:off x="628650" y="4610100"/>
            <a:ext cx="514350" cy="400050"/>
          </a:xfrm>
          <a:prstGeom prst="rect">
            <a:avLst/>
          </a:prstGeom>
          <a:noFill/>
          <a:ln w="0">
            <a:noFill/>
          </a:ln>
        </p:spPr>
        <p:txBody>
          <a:bodyPr anchor="t">
            <a:normAutofit fontScale="96428"/>
          </a:bodyPr>
          <a:lstStyle/>
          <a:p>
            <a:pPr algn="l">
              <a:defRPr sz="2100" b="1">
                <a:solidFill>
                  <a:srgbClr val="F3A321"/>
                </a:solidFill>
                <a:latin typeface="Nimbus Sans"/>
                <a:ea typeface="Nimbus Sans"/>
                <a:cs typeface="Nimbus Sans"/>
              </a:defRPr>
            </a:pPr>
            <a:r>
              <a:rPr sz="2100" b="1">
                <a:solidFill>
                  <a:srgbClr val="F3A321"/>
                </a:solidFill>
                <a:latin typeface="Nimbus Sans"/>
                <a:ea typeface="Nimbus Sans"/>
                <a:cs typeface="Nimbus Sans"/>
              </a:rPr>
              <a:t>05</a:t>
            </a:r>
          </a:p>
        </p:txBody>
      </p:sp>
      <p:sp>
        <p:nvSpPr>
          <p:cNvPr id="24" name="Rectangle 23">
            <a:extLst>
              <a:ext uri="{FF2B5EF4-FFF2-40B4-BE49-F238E27FC236}">
                <a16:creationId xmlns:a16="http://schemas.microsoft.com/office/drawing/2014/main" id="{5F137E74-0D73-42B2-A01C-A6094B7C3B18}"/>
              </a:ext>
            </a:extLst>
          </p:cNvPr>
          <p:cNvSpPr>
            <a:spLocks noGrp="1"/>
          </p:cNvSpPr>
          <p:nvPr/>
        </p:nvSpPr>
        <p:spPr>
          <a:xfrm>
            <a:off x="1295400" y="4610100"/>
            <a:ext cx="4381500" cy="323850"/>
          </a:xfrm>
          <a:prstGeom prst="rect">
            <a:avLst/>
          </a:prstGeom>
          <a:noFill/>
          <a:ln w="0">
            <a:noFill/>
          </a:ln>
        </p:spPr>
        <p:txBody>
          <a:bodyPr anchor="t">
            <a:normAutofit fontScale="88406"/>
          </a:bodyPr>
          <a:lstStyle/>
          <a:p>
            <a:pPr algn="l">
              <a:defRPr sz="1725" b="1">
                <a:solidFill>
                  <a:srgbClr val="202A63"/>
                </a:solidFill>
                <a:latin typeface="Nimbus Sans"/>
                <a:ea typeface="Nimbus Sans"/>
                <a:cs typeface="Nimbus Sans"/>
              </a:defRPr>
            </a:pPr>
            <a:r>
              <a:rPr sz="1725" b="1">
                <a:solidFill>
                  <a:srgbClr val="202A63"/>
                </a:solidFill>
                <a:latin typeface="Nimbus Sans"/>
                <a:ea typeface="Nimbus Sans"/>
                <a:cs typeface="Nimbus Sans"/>
              </a:rPr>
              <a:t>Explore relationships</a:t>
            </a:r>
          </a:p>
        </p:txBody>
      </p:sp>
      <p:sp>
        <p:nvSpPr>
          <p:cNvPr id="25" name="Rectangle 24">
            <a:extLst>
              <a:ext uri="{FF2B5EF4-FFF2-40B4-BE49-F238E27FC236}">
                <a16:creationId xmlns:a16="http://schemas.microsoft.com/office/drawing/2014/main" id="{BC24F478-AF3A-4AAE-AB66-61C89CDD0C20}"/>
              </a:ext>
            </a:extLst>
          </p:cNvPr>
          <p:cNvSpPr>
            <a:spLocks noGrp="1"/>
          </p:cNvSpPr>
          <p:nvPr/>
        </p:nvSpPr>
        <p:spPr>
          <a:xfrm>
            <a:off x="1295400" y="5019675"/>
            <a:ext cx="4476750" cy="762000"/>
          </a:xfrm>
          <a:prstGeom prst="rect">
            <a:avLst/>
          </a:prstGeom>
          <a:noFill/>
          <a:ln w="0">
            <a:noFill/>
          </a:ln>
        </p:spPr>
        <p:txBody>
          <a:bodyPr anchor="t">
            <a:normAutofit/>
          </a:bodyPr>
          <a:lstStyle/>
          <a:p>
            <a:pPr algn="l">
              <a:defRPr sz="1275" b="0">
                <a:solidFill>
                  <a:srgbClr val="1E2633"/>
                </a:solidFill>
                <a:latin typeface="Nimbus Sans"/>
                <a:ea typeface="Nimbus Sans"/>
                <a:cs typeface="Nimbus Sans"/>
              </a:defRPr>
            </a:pPr>
            <a:r>
              <a:rPr sz="1275" b="0">
                <a:solidFill>
                  <a:srgbClr val="1E2633"/>
                </a:solidFill>
                <a:latin typeface="Nimbus Sans"/>
                <a:ea typeface="Nimbus Sans"/>
                <a:cs typeface="Nimbus Sans"/>
              </a:rPr>
              <a:t>Use descriptive comparisons and Spearman correlation without claiming causation.</a:t>
            </a:r>
          </a:p>
        </p:txBody>
      </p:sp>
      <p:sp>
        <p:nvSpPr>
          <p:cNvPr id="26" name="Rectangle 25">
            <a:extLst>
              <a:ext uri="{FF2B5EF4-FFF2-40B4-BE49-F238E27FC236}">
                <a16:creationId xmlns:a16="http://schemas.microsoft.com/office/drawing/2014/main" id="{9A374652-7C3D-4AD3-8093-6ADB60CED7A3}"/>
              </a:ext>
            </a:extLst>
          </p:cNvPr>
          <p:cNvSpPr>
            <a:spLocks noGrp="1"/>
          </p:cNvSpPr>
          <p:nvPr/>
        </p:nvSpPr>
        <p:spPr>
          <a:xfrm>
            <a:off x="6324600" y="4610100"/>
            <a:ext cx="514350" cy="400050"/>
          </a:xfrm>
          <a:prstGeom prst="rect">
            <a:avLst/>
          </a:prstGeom>
          <a:noFill/>
          <a:ln w="0">
            <a:noFill/>
          </a:ln>
        </p:spPr>
        <p:txBody>
          <a:bodyPr anchor="t">
            <a:normAutofit fontScale="96428"/>
          </a:bodyPr>
          <a:lstStyle/>
          <a:p>
            <a:pPr algn="l">
              <a:defRPr sz="2100" b="1">
                <a:solidFill>
                  <a:srgbClr val="1769AA"/>
                </a:solidFill>
                <a:latin typeface="Nimbus Sans"/>
                <a:ea typeface="Nimbus Sans"/>
                <a:cs typeface="Nimbus Sans"/>
              </a:defRPr>
            </a:pPr>
            <a:r>
              <a:rPr sz="2100" b="1">
                <a:solidFill>
                  <a:srgbClr val="1769AA"/>
                </a:solidFill>
                <a:latin typeface="Nimbus Sans"/>
                <a:ea typeface="Nimbus Sans"/>
                <a:cs typeface="Nimbus Sans"/>
              </a:rPr>
              <a:t>06</a:t>
            </a:r>
          </a:p>
        </p:txBody>
      </p:sp>
      <p:sp>
        <p:nvSpPr>
          <p:cNvPr id="27" name="Rectangle 26">
            <a:extLst>
              <a:ext uri="{FF2B5EF4-FFF2-40B4-BE49-F238E27FC236}">
                <a16:creationId xmlns:a16="http://schemas.microsoft.com/office/drawing/2014/main" id="{70ED558C-3B8F-499C-B3A2-F9ECF6EFFB96}"/>
              </a:ext>
            </a:extLst>
          </p:cNvPr>
          <p:cNvSpPr>
            <a:spLocks noGrp="1"/>
          </p:cNvSpPr>
          <p:nvPr/>
        </p:nvSpPr>
        <p:spPr>
          <a:xfrm>
            <a:off x="6991350" y="4610100"/>
            <a:ext cx="4381500" cy="323850"/>
          </a:xfrm>
          <a:prstGeom prst="rect">
            <a:avLst/>
          </a:prstGeom>
          <a:noFill/>
          <a:ln w="0">
            <a:noFill/>
          </a:ln>
        </p:spPr>
        <p:txBody>
          <a:bodyPr anchor="t">
            <a:normAutofit fontScale="88406"/>
          </a:bodyPr>
          <a:lstStyle/>
          <a:p>
            <a:pPr algn="l">
              <a:defRPr sz="1725" b="1">
                <a:solidFill>
                  <a:srgbClr val="202A63"/>
                </a:solidFill>
                <a:latin typeface="Nimbus Sans"/>
                <a:ea typeface="Nimbus Sans"/>
                <a:cs typeface="Nimbus Sans"/>
              </a:defRPr>
            </a:pPr>
            <a:r>
              <a:rPr sz="1725" b="1">
                <a:solidFill>
                  <a:srgbClr val="202A63"/>
                </a:solidFill>
                <a:latin typeface="Nimbus Sans"/>
                <a:ea typeface="Nimbus Sans"/>
                <a:cs typeface="Nimbus Sans"/>
              </a:rPr>
              <a:t>Communicate clearly</a:t>
            </a:r>
          </a:p>
        </p:txBody>
      </p:sp>
      <p:sp>
        <p:nvSpPr>
          <p:cNvPr id="28" name="Rectangle 27">
            <a:extLst>
              <a:ext uri="{FF2B5EF4-FFF2-40B4-BE49-F238E27FC236}">
                <a16:creationId xmlns:a16="http://schemas.microsoft.com/office/drawing/2014/main" id="{E63F8DEA-71EF-4D65-8FF6-7FDA6BC2CFE7}"/>
              </a:ext>
            </a:extLst>
          </p:cNvPr>
          <p:cNvSpPr>
            <a:spLocks noGrp="1"/>
          </p:cNvSpPr>
          <p:nvPr/>
        </p:nvSpPr>
        <p:spPr>
          <a:xfrm>
            <a:off x="6991350" y="5019675"/>
            <a:ext cx="4476750" cy="762000"/>
          </a:xfrm>
          <a:prstGeom prst="rect">
            <a:avLst/>
          </a:prstGeom>
          <a:noFill/>
          <a:ln w="0">
            <a:noFill/>
          </a:ln>
        </p:spPr>
        <p:txBody>
          <a:bodyPr anchor="t">
            <a:normAutofit/>
          </a:bodyPr>
          <a:lstStyle/>
          <a:p>
            <a:pPr algn="l">
              <a:defRPr sz="1275" b="0">
                <a:solidFill>
                  <a:srgbClr val="1E2633"/>
                </a:solidFill>
                <a:latin typeface="Nimbus Sans"/>
                <a:ea typeface="Nimbus Sans"/>
                <a:cs typeface="Nimbus Sans"/>
              </a:defRPr>
            </a:pPr>
            <a:r>
              <a:rPr sz="1275" b="0">
                <a:solidFill>
                  <a:srgbClr val="1E2633"/>
                </a:solidFill>
                <a:latin typeface="Nimbus Sans"/>
                <a:ea typeface="Nimbus Sans"/>
                <a:cs typeface="Nimbus Sans"/>
              </a:rPr>
              <a:t>Present six labeled charts with plain-language findings and limitations.</a:t>
            </a:r>
          </a:p>
        </p:txBody>
      </p:sp>
    </p:spTree>
    <p:extLst>
      <p:ext uri="{BB962C8B-B14F-4D97-AF65-F5344CB8AC3E}">
        <p14:creationId xmlns:p14="http://schemas.microsoft.com/office/powerpoint/2010/main" val="968460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0511E07-EBB5-47F9-BB4D-DEFEBDD844DA}"/>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The dataset contains 12,409 listing records</a:t>
            </a:r>
          </a:p>
        </p:txBody>
      </p:sp>
      <p:sp>
        <p:nvSpPr>
          <p:cNvPr id="2" name="Rectangle 1">
            <a:extLst>
              <a:ext uri="{FF2B5EF4-FFF2-40B4-BE49-F238E27FC236}">
                <a16:creationId xmlns:a16="http://schemas.microsoft.com/office/drawing/2014/main" id="{7BFF0766-D196-4DF2-BC52-3F5FB9335612}"/>
              </a:ext>
            </a:extLst>
          </p:cNvPr>
          <p:cNvSpPr>
            <a:spLocks noGrp="1"/>
          </p:cNvSpPr>
          <p:nvPr/>
        </p:nvSpPr>
        <p:spPr>
          <a:xfrm>
            <a:off x="514350" y="838200"/>
            <a:ext cx="11125200" cy="266700"/>
          </a:xfrm>
          <a:prstGeom prst="rect">
            <a:avLst/>
          </a:prstGeom>
          <a:noFill/>
          <a:ln w="0">
            <a:noFill/>
          </a:ln>
        </p:spPr>
        <p:txBody>
          <a:bodyPr anchor="t">
            <a:normAutofit fontScale="97696" lnSpcReduction="10000"/>
          </a:bodyPr>
          <a:lstStyle/>
          <a:p>
            <a:pPr algn="l">
              <a:defRPr sz="1275" b="0">
                <a:solidFill>
                  <a:srgbClr val="606A78"/>
                </a:solidFill>
                <a:latin typeface="Nimbus Sans"/>
                <a:ea typeface="Nimbus Sans"/>
                <a:cs typeface="Nimbus Sans"/>
              </a:defRPr>
            </a:pPr>
            <a:r>
              <a:rPr sz="1275" b="0">
                <a:solidFill>
                  <a:srgbClr val="606A78"/>
                </a:solidFill>
                <a:latin typeface="Nimbus Sans"/>
                <a:ea typeface="Nimbus Sans"/>
                <a:cs typeface="Nimbus Sans"/>
              </a:rPr>
              <a:t>Six original columns cover 18 selected city labels</a:t>
            </a:r>
          </a:p>
        </p:txBody>
      </p:sp>
      <p:sp>
        <p:nvSpPr>
          <p:cNvPr id="3" name="Rectangle 2">
            <a:extLst>
              <a:ext uri="{FF2B5EF4-FFF2-40B4-BE49-F238E27FC236}">
                <a16:creationId xmlns:a16="http://schemas.microsoft.com/office/drawing/2014/main" id="{11304531-0158-4A4E-A4B1-0CDE79FCB0CE}"/>
              </a:ext>
            </a:extLst>
          </p:cNvPr>
          <p:cNvSpPr>
            <a:spLocks noGrp="1"/>
          </p:cNvSpPr>
          <p:nvPr/>
        </p:nvSpPr>
        <p:spPr>
          <a:xfrm>
            <a:off x="514350" y="1171575"/>
            <a:ext cx="11125200" cy="28575"/>
          </a:xfrm>
          <a:prstGeom prst="rect">
            <a:avLst/>
          </a:prstGeom>
          <a:solidFill>
            <a:srgbClr val="F3A321"/>
          </a:solidFill>
          <a:ln w="0">
            <a:noFill/>
          </a:ln>
        </p:spPr>
      </p:sp>
      <p:sp>
        <p:nvSpPr>
          <p:cNvPr id="5" name="Rectangle 4">
            <a:extLst>
              <a:ext uri="{FF2B5EF4-FFF2-40B4-BE49-F238E27FC236}">
                <a16:creationId xmlns:a16="http://schemas.microsoft.com/office/drawing/2014/main" id="{14432E6D-5468-42DD-8B08-B7F6D26BBAEA}"/>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6" name="Rectangle 5">
            <a:extLst>
              <a:ext uri="{FF2B5EF4-FFF2-40B4-BE49-F238E27FC236}">
                <a16:creationId xmlns:a16="http://schemas.microsoft.com/office/drawing/2014/main" id="{34D97922-8AAE-4802-A3F1-DA92E82B7313}"/>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4</a:t>
            </a:r>
          </a:p>
        </p:txBody>
      </p:sp>
      <p:sp>
        <p:nvSpPr>
          <p:cNvPr id="7" name="Rectangle 6">
            <a:extLst>
              <a:ext uri="{FF2B5EF4-FFF2-40B4-BE49-F238E27FC236}">
                <a16:creationId xmlns:a16="http://schemas.microsoft.com/office/drawing/2014/main" id="{D7E9C706-C6B0-44EE-8E46-07F327D9564D}"/>
              </a:ext>
            </a:extLst>
          </p:cNvPr>
          <p:cNvSpPr>
            <a:spLocks noGrp="1"/>
          </p:cNvSpPr>
          <p:nvPr/>
        </p:nvSpPr>
        <p:spPr>
          <a:xfrm>
            <a:off x="609600" y="1562100"/>
            <a:ext cx="2286000" cy="704850"/>
          </a:xfrm>
          <a:prstGeom prst="rect">
            <a:avLst/>
          </a:prstGeom>
          <a:noFill/>
          <a:ln w="0">
            <a:noFill/>
          </a:ln>
        </p:spPr>
        <p:txBody>
          <a:bodyPr anchor="t">
            <a:normAutofit/>
          </a:bodyPr>
          <a:lstStyle/>
          <a:p>
            <a:pPr algn="l">
              <a:defRPr sz="3600" b="1">
                <a:solidFill>
                  <a:srgbClr val="1769AA"/>
                </a:solidFill>
                <a:latin typeface="Nimbus Sans"/>
                <a:ea typeface="Nimbus Sans"/>
                <a:cs typeface="Nimbus Sans"/>
              </a:defRPr>
            </a:pPr>
            <a:r>
              <a:rPr sz="3600" b="1">
                <a:solidFill>
                  <a:srgbClr val="1769AA"/>
                </a:solidFill>
                <a:latin typeface="Nimbus Sans"/>
                <a:ea typeface="Nimbus Sans"/>
                <a:cs typeface="Nimbus Sans"/>
              </a:rPr>
              <a:t>12,409</a:t>
            </a:r>
          </a:p>
        </p:txBody>
      </p:sp>
      <p:sp>
        <p:nvSpPr>
          <p:cNvPr id="8" name="Rectangle 7">
            <a:extLst>
              <a:ext uri="{FF2B5EF4-FFF2-40B4-BE49-F238E27FC236}">
                <a16:creationId xmlns:a16="http://schemas.microsoft.com/office/drawing/2014/main" id="{8345CA0C-3E3E-4F16-B47E-84986EB7A3B2}"/>
              </a:ext>
            </a:extLst>
          </p:cNvPr>
          <p:cNvSpPr>
            <a:spLocks noGrp="1"/>
          </p:cNvSpPr>
          <p:nvPr/>
        </p:nvSpPr>
        <p:spPr>
          <a:xfrm>
            <a:off x="609600" y="2286000"/>
            <a:ext cx="2324100" cy="495300"/>
          </a:xfrm>
          <a:prstGeom prst="rect">
            <a:avLst/>
          </a:prstGeom>
          <a:noFill/>
          <a:ln w="0">
            <a:noFill/>
          </a:ln>
        </p:spPr>
        <p:txBody>
          <a:bodyPr anchor="t">
            <a:normAutofit/>
          </a:bodyPr>
          <a:lstStyle/>
          <a:p>
            <a:pPr algn="l">
              <a:defRPr sz="1350" b="0">
                <a:solidFill>
                  <a:srgbClr val="606A78"/>
                </a:solidFill>
                <a:latin typeface="Nimbus Sans"/>
                <a:ea typeface="Nimbus Sans"/>
                <a:cs typeface="Nimbus Sans"/>
              </a:defRPr>
            </a:pPr>
            <a:r>
              <a:rPr sz="1350" b="0">
                <a:solidFill>
                  <a:srgbClr val="606A78"/>
                </a:solidFill>
                <a:latin typeface="Nimbus Sans"/>
                <a:ea typeface="Nimbus Sans"/>
                <a:cs typeface="Nimbus Sans"/>
              </a:rPr>
              <a:t>restaurant-listing records</a:t>
            </a:r>
          </a:p>
        </p:txBody>
      </p:sp>
      <p:sp>
        <p:nvSpPr>
          <p:cNvPr id="9" name="Rectangle 8">
            <a:extLst>
              <a:ext uri="{FF2B5EF4-FFF2-40B4-BE49-F238E27FC236}">
                <a16:creationId xmlns:a16="http://schemas.microsoft.com/office/drawing/2014/main" id="{80B98D87-9185-4A27-B9EC-C21CCB11ACC2}"/>
              </a:ext>
            </a:extLst>
          </p:cNvPr>
          <p:cNvSpPr>
            <a:spLocks noGrp="1"/>
          </p:cNvSpPr>
          <p:nvPr/>
        </p:nvSpPr>
        <p:spPr>
          <a:xfrm>
            <a:off x="3390900" y="1562100"/>
            <a:ext cx="2286000" cy="704850"/>
          </a:xfrm>
          <a:prstGeom prst="rect">
            <a:avLst/>
          </a:prstGeom>
          <a:noFill/>
          <a:ln w="0">
            <a:noFill/>
          </a:ln>
        </p:spPr>
        <p:txBody>
          <a:bodyPr anchor="t">
            <a:normAutofit/>
          </a:bodyPr>
          <a:lstStyle/>
          <a:p>
            <a:pPr algn="l">
              <a:defRPr sz="3600" b="1">
                <a:solidFill>
                  <a:srgbClr val="147B64"/>
                </a:solidFill>
                <a:latin typeface="Nimbus Sans"/>
                <a:ea typeface="Nimbus Sans"/>
                <a:cs typeface="Nimbus Sans"/>
              </a:defRPr>
            </a:pPr>
            <a:r>
              <a:rPr sz="3600" b="1">
                <a:solidFill>
                  <a:srgbClr val="147B64"/>
                </a:solidFill>
                <a:latin typeface="Nimbus Sans"/>
                <a:ea typeface="Nimbus Sans"/>
                <a:cs typeface="Nimbus Sans"/>
              </a:rPr>
              <a:t>18</a:t>
            </a:r>
          </a:p>
        </p:txBody>
      </p:sp>
      <p:sp>
        <p:nvSpPr>
          <p:cNvPr id="10" name="Rectangle 9">
            <a:extLst>
              <a:ext uri="{FF2B5EF4-FFF2-40B4-BE49-F238E27FC236}">
                <a16:creationId xmlns:a16="http://schemas.microsoft.com/office/drawing/2014/main" id="{0316C4E2-6AB9-4EE3-931C-36FC3D3B1C4D}"/>
              </a:ext>
            </a:extLst>
          </p:cNvPr>
          <p:cNvSpPr>
            <a:spLocks noGrp="1"/>
          </p:cNvSpPr>
          <p:nvPr/>
        </p:nvSpPr>
        <p:spPr>
          <a:xfrm>
            <a:off x="3390900" y="2286000"/>
            <a:ext cx="2324100" cy="495300"/>
          </a:xfrm>
          <a:prstGeom prst="rect">
            <a:avLst/>
          </a:prstGeom>
          <a:noFill/>
          <a:ln w="0">
            <a:noFill/>
          </a:ln>
        </p:spPr>
        <p:txBody>
          <a:bodyPr anchor="t">
            <a:normAutofit/>
          </a:bodyPr>
          <a:lstStyle/>
          <a:p>
            <a:pPr algn="l">
              <a:defRPr sz="1350" b="0">
                <a:solidFill>
                  <a:srgbClr val="606A78"/>
                </a:solidFill>
                <a:latin typeface="Nimbus Sans"/>
                <a:ea typeface="Nimbus Sans"/>
                <a:cs typeface="Nimbus Sans"/>
              </a:defRPr>
            </a:pPr>
            <a:r>
              <a:rPr sz="1350" b="0">
                <a:solidFill>
                  <a:srgbClr val="606A78"/>
                </a:solidFill>
                <a:latin typeface="Nimbus Sans"/>
                <a:ea typeface="Nimbus Sans"/>
                <a:cs typeface="Nimbus Sans"/>
              </a:rPr>
              <a:t>city labels</a:t>
            </a:r>
          </a:p>
        </p:txBody>
      </p:sp>
      <p:sp>
        <p:nvSpPr>
          <p:cNvPr id="11" name="Rectangle 10">
            <a:extLst>
              <a:ext uri="{FF2B5EF4-FFF2-40B4-BE49-F238E27FC236}">
                <a16:creationId xmlns:a16="http://schemas.microsoft.com/office/drawing/2014/main" id="{509F89A7-8B48-4282-921A-1AFA52C8C894}"/>
              </a:ext>
            </a:extLst>
          </p:cNvPr>
          <p:cNvSpPr>
            <a:spLocks noGrp="1"/>
          </p:cNvSpPr>
          <p:nvPr/>
        </p:nvSpPr>
        <p:spPr>
          <a:xfrm>
            <a:off x="6172200" y="1562100"/>
            <a:ext cx="2286000" cy="704850"/>
          </a:xfrm>
          <a:prstGeom prst="rect">
            <a:avLst/>
          </a:prstGeom>
          <a:noFill/>
          <a:ln w="0">
            <a:noFill/>
          </a:ln>
        </p:spPr>
        <p:txBody>
          <a:bodyPr anchor="t">
            <a:normAutofit/>
          </a:bodyPr>
          <a:lstStyle/>
          <a:p>
            <a:pPr algn="l">
              <a:defRPr sz="3600" b="1">
                <a:solidFill>
                  <a:srgbClr val="F3A321"/>
                </a:solidFill>
                <a:latin typeface="Nimbus Sans"/>
                <a:ea typeface="Nimbus Sans"/>
                <a:cs typeface="Nimbus Sans"/>
              </a:defRPr>
            </a:pPr>
            <a:r>
              <a:rPr sz="3600" b="1">
                <a:solidFill>
                  <a:srgbClr val="F3A321"/>
                </a:solidFill>
                <a:latin typeface="Nimbus Sans"/>
                <a:ea typeface="Nimbus Sans"/>
                <a:cs typeface="Nimbus Sans"/>
              </a:rPr>
              <a:t>67</a:t>
            </a:r>
          </a:p>
        </p:txBody>
      </p:sp>
      <p:sp>
        <p:nvSpPr>
          <p:cNvPr id="12" name="Rectangle 11">
            <a:extLst>
              <a:ext uri="{FF2B5EF4-FFF2-40B4-BE49-F238E27FC236}">
                <a16:creationId xmlns:a16="http://schemas.microsoft.com/office/drawing/2014/main" id="{1685692B-D726-4FD1-A81E-69ACAFD5E7C6}"/>
              </a:ext>
            </a:extLst>
          </p:cNvPr>
          <p:cNvSpPr>
            <a:spLocks noGrp="1"/>
          </p:cNvSpPr>
          <p:nvPr/>
        </p:nvSpPr>
        <p:spPr>
          <a:xfrm>
            <a:off x="6172200" y="2286000"/>
            <a:ext cx="2324100" cy="495300"/>
          </a:xfrm>
          <a:prstGeom prst="rect">
            <a:avLst/>
          </a:prstGeom>
          <a:noFill/>
          <a:ln w="0">
            <a:noFill/>
          </a:ln>
        </p:spPr>
        <p:txBody>
          <a:bodyPr anchor="t">
            <a:normAutofit/>
          </a:bodyPr>
          <a:lstStyle/>
          <a:p>
            <a:pPr algn="l">
              <a:defRPr sz="1350" b="0">
                <a:solidFill>
                  <a:srgbClr val="606A78"/>
                </a:solidFill>
                <a:latin typeface="Nimbus Sans"/>
                <a:ea typeface="Nimbus Sans"/>
                <a:cs typeface="Nimbus Sans"/>
              </a:defRPr>
            </a:pPr>
            <a:r>
              <a:rPr sz="1350" b="0">
                <a:solidFill>
                  <a:srgbClr val="606A78"/>
                </a:solidFill>
                <a:latin typeface="Nimbus Sans"/>
                <a:ea typeface="Nimbus Sans"/>
                <a:cs typeface="Nimbus Sans"/>
              </a:rPr>
              <a:t>known food-type categories</a:t>
            </a:r>
          </a:p>
        </p:txBody>
      </p:sp>
      <p:sp>
        <p:nvSpPr>
          <p:cNvPr id="13" name="Rectangle 12">
            <a:extLst>
              <a:ext uri="{FF2B5EF4-FFF2-40B4-BE49-F238E27FC236}">
                <a16:creationId xmlns:a16="http://schemas.microsoft.com/office/drawing/2014/main" id="{277487F4-8829-4BC6-9923-66968C3A04C8}"/>
              </a:ext>
            </a:extLst>
          </p:cNvPr>
          <p:cNvSpPr>
            <a:spLocks noGrp="1"/>
          </p:cNvSpPr>
          <p:nvPr/>
        </p:nvSpPr>
        <p:spPr>
          <a:xfrm>
            <a:off x="8953500" y="1562100"/>
            <a:ext cx="2286000" cy="704850"/>
          </a:xfrm>
          <a:prstGeom prst="rect">
            <a:avLst/>
          </a:prstGeom>
          <a:noFill/>
          <a:ln w="0">
            <a:noFill/>
          </a:ln>
        </p:spPr>
        <p:txBody>
          <a:bodyPr anchor="t">
            <a:normAutofit/>
          </a:bodyPr>
          <a:lstStyle/>
          <a:p>
            <a:pPr algn="l">
              <a:defRPr sz="3600" b="1">
                <a:solidFill>
                  <a:srgbClr val="6547A5"/>
                </a:solidFill>
                <a:latin typeface="Nimbus Sans"/>
                <a:ea typeface="Nimbus Sans"/>
                <a:cs typeface="Nimbus Sans"/>
              </a:defRPr>
            </a:pPr>
            <a:r>
              <a:rPr sz="3600" b="1">
                <a:solidFill>
                  <a:srgbClr val="6547A5"/>
                </a:solidFill>
                <a:latin typeface="Nimbus Sans"/>
                <a:ea typeface="Nimbus Sans"/>
                <a:cs typeface="Nimbus Sans"/>
              </a:rPr>
              <a:t>91</a:t>
            </a:r>
          </a:p>
        </p:txBody>
      </p:sp>
      <p:sp>
        <p:nvSpPr>
          <p:cNvPr id="14" name="Rectangle 13">
            <a:extLst>
              <a:ext uri="{FF2B5EF4-FFF2-40B4-BE49-F238E27FC236}">
                <a16:creationId xmlns:a16="http://schemas.microsoft.com/office/drawing/2014/main" id="{EC2566F2-0D3F-45FE-968A-48F51987600E}"/>
              </a:ext>
            </a:extLst>
          </p:cNvPr>
          <p:cNvSpPr>
            <a:spLocks noGrp="1"/>
          </p:cNvSpPr>
          <p:nvPr/>
        </p:nvSpPr>
        <p:spPr>
          <a:xfrm>
            <a:off x="8953500" y="2286000"/>
            <a:ext cx="2324100" cy="495300"/>
          </a:xfrm>
          <a:prstGeom prst="rect">
            <a:avLst/>
          </a:prstGeom>
          <a:noFill/>
          <a:ln w="0">
            <a:noFill/>
          </a:ln>
        </p:spPr>
        <p:txBody>
          <a:bodyPr anchor="t">
            <a:normAutofit/>
          </a:bodyPr>
          <a:lstStyle/>
          <a:p>
            <a:pPr algn="l">
              <a:defRPr sz="1350" b="0">
                <a:solidFill>
                  <a:srgbClr val="606A78"/>
                </a:solidFill>
                <a:latin typeface="Nimbus Sans"/>
                <a:ea typeface="Nimbus Sans"/>
                <a:cs typeface="Nimbus Sans"/>
              </a:defRPr>
            </a:pPr>
            <a:r>
              <a:rPr sz="1350" b="0">
                <a:solidFill>
                  <a:srgbClr val="606A78"/>
                </a:solidFill>
                <a:latin typeface="Nimbus Sans"/>
                <a:ea typeface="Nimbus Sans"/>
                <a:cs typeface="Nimbus Sans"/>
              </a:rPr>
              <a:t>missing food-type values</a:t>
            </a:r>
          </a:p>
        </p:txBody>
      </p:sp>
      <p:sp>
        <p:nvSpPr>
          <p:cNvPr id="15" name="Rectangle 14">
            <a:extLst>
              <a:ext uri="{FF2B5EF4-FFF2-40B4-BE49-F238E27FC236}">
                <a16:creationId xmlns:a16="http://schemas.microsoft.com/office/drawing/2014/main" id="{47DBC3FD-6DFC-42F4-9FDA-23F7A4306E04}"/>
              </a:ext>
            </a:extLst>
          </p:cNvPr>
          <p:cNvSpPr>
            <a:spLocks noGrp="1"/>
          </p:cNvSpPr>
          <p:nvPr/>
        </p:nvSpPr>
        <p:spPr>
          <a:xfrm>
            <a:off x="609600" y="3086100"/>
            <a:ext cx="10953750" cy="19050"/>
          </a:xfrm>
          <a:prstGeom prst="rect">
            <a:avLst/>
          </a:prstGeom>
          <a:solidFill>
            <a:srgbClr val="D5DAE1"/>
          </a:solidFill>
          <a:ln w="0">
            <a:noFill/>
          </a:ln>
        </p:spPr>
      </p:sp>
      <p:sp>
        <p:nvSpPr>
          <p:cNvPr id="16" name="Rectangle 15">
            <a:extLst>
              <a:ext uri="{FF2B5EF4-FFF2-40B4-BE49-F238E27FC236}">
                <a16:creationId xmlns:a16="http://schemas.microsoft.com/office/drawing/2014/main" id="{4248D3BA-7849-4EC0-B23F-899A8CCFF7F6}"/>
              </a:ext>
            </a:extLst>
          </p:cNvPr>
          <p:cNvSpPr>
            <a:spLocks noGrp="1"/>
          </p:cNvSpPr>
          <p:nvPr/>
        </p:nvSpPr>
        <p:spPr>
          <a:xfrm>
            <a:off x="609600" y="3429000"/>
            <a:ext cx="2857500" cy="361950"/>
          </a:xfrm>
          <a:prstGeom prst="rect">
            <a:avLst/>
          </a:prstGeom>
          <a:noFill/>
          <a:ln w="0">
            <a:noFill/>
          </a:ln>
        </p:spPr>
        <p:txBody>
          <a:bodyPr anchor="t">
            <a:normAutofit/>
          </a:bodyPr>
          <a:lstStyle/>
          <a:p>
            <a:pPr algn="l">
              <a:defRPr sz="1725" b="1">
                <a:solidFill>
                  <a:srgbClr val="202A63"/>
                </a:solidFill>
                <a:latin typeface="Nimbus Sans"/>
                <a:ea typeface="Nimbus Sans"/>
                <a:cs typeface="Nimbus Sans"/>
              </a:defRPr>
            </a:pPr>
            <a:r>
              <a:rPr sz="1725" b="1">
                <a:solidFill>
                  <a:srgbClr val="202A63"/>
                </a:solidFill>
                <a:latin typeface="Nimbus Sans"/>
                <a:ea typeface="Nimbus Sans"/>
                <a:cs typeface="Nimbus Sans"/>
              </a:rPr>
              <a:t>Original columns</a:t>
            </a:r>
          </a:p>
        </p:txBody>
      </p:sp>
      <p:sp>
        <p:nvSpPr>
          <p:cNvPr id="17" name="Rectangle 16">
            <a:extLst>
              <a:ext uri="{FF2B5EF4-FFF2-40B4-BE49-F238E27FC236}">
                <a16:creationId xmlns:a16="http://schemas.microsoft.com/office/drawing/2014/main" id="{D22DA17A-7A05-4083-9B4E-87FDCA1AA2BB}"/>
              </a:ext>
            </a:extLst>
          </p:cNvPr>
          <p:cNvSpPr>
            <a:spLocks noGrp="1"/>
          </p:cNvSpPr>
          <p:nvPr/>
        </p:nvSpPr>
        <p:spPr>
          <a:xfrm>
            <a:off x="609600" y="4000500"/>
            <a:ext cx="2857500" cy="1428750"/>
          </a:xfrm>
          <a:prstGeom prst="rect">
            <a:avLst/>
          </a:prstGeom>
          <a:noFill/>
          <a:ln w="0">
            <a:noFill/>
          </a:ln>
        </p:spPr>
        <p:txBody>
          <a:bodyPr anchor="t">
            <a:normAutofit/>
          </a:bodyPr>
          <a:lstStyle/>
          <a:p>
            <a:pPr algn="l">
              <a:defRPr sz="1650" b="0">
                <a:solidFill>
                  <a:srgbClr val="1E2633"/>
                </a:solidFill>
                <a:latin typeface="Nimbus Sans"/>
                <a:ea typeface="Nimbus Sans"/>
                <a:cs typeface="Nimbus Sans"/>
              </a:defRPr>
            </a:pPr>
            <a:r>
              <a:rPr sz="1650" b="0">
                <a:solidFill>
                  <a:srgbClr val="1E2633"/>
                </a:solidFill>
                <a:latin typeface="Nimbus Sans"/>
                <a:ea typeface="Nimbus Sans"/>
                <a:cs typeface="Nimbus Sans"/>
              </a:rPr>
              <a:t>StoreId</a:t>
            </a:r>
          </a:p>
          <a:p>
            <a:pPr algn="l">
              <a:defRPr sz="1650" b="0">
                <a:solidFill>
                  <a:srgbClr val="1E2633"/>
                </a:solidFill>
                <a:latin typeface="Nimbus Sans"/>
                <a:ea typeface="Nimbus Sans"/>
                <a:cs typeface="Nimbus Sans"/>
              </a:defRPr>
            </a:pPr>
            <a:r>
              <a:rPr sz="1650" b="0">
                <a:solidFill>
                  <a:srgbClr val="1E2633"/>
                </a:solidFill>
                <a:latin typeface="Nimbus Sans"/>
                <a:ea typeface="Nimbus Sans"/>
                <a:cs typeface="Nimbus Sans"/>
              </a:rPr>
              <a:t>CompleteStoreName</a:t>
            </a:r>
          </a:p>
          <a:p>
            <a:pPr algn="l">
              <a:defRPr sz="1650" b="0">
                <a:solidFill>
                  <a:srgbClr val="1E2633"/>
                </a:solidFill>
                <a:latin typeface="Nimbus Sans"/>
                <a:ea typeface="Nimbus Sans"/>
                <a:cs typeface="Nimbus Sans"/>
              </a:defRPr>
            </a:pPr>
            <a:r>
              <a:rPr sz="1650" b="0">
                <a:solidFill>
                  <a:srgbClr val="1E2633"/>
                </a:solidFill>
                <a:latin typeface="Nimbus Sans"/>
                <a:ea typeface="Nimbus Sans"/>
                <a:cs typeface="Nimbus Sans"/>
              </a:rPr>
              <a:t>FoodType</a:t>
            </a:r>
          </a:p>
        </p:txBody>
      </p:sp>
      <p:sp>
        <p:nvSpPr>
          <p:cNvPr id="18" name="Rectangle 17">
            <a:extLst>
              <a:ext uri="{FF2B5EF4-FFF2-40B4-BE49-F238E27FC236}">
                <a16:creationId xmlns:a16="http://schemas.microsoft.com/office/drawing/2014/main" id="{2D26C9AA-A4CD-4764-8BB4-C7F0D7D7141F}"/>
              </a:ext>
            </a:extLst>
          </p:cNvPr>
          <p:cNvSpPr>
            <a:spLocks noGrp="1"/>
          </p:cNvSpPr>
          <p:nvPr/>
        </p:nvSpPr>
        <p:spPr>
          <a:xfrm>
            <a:off x="3333750" y="4000500"/>
            <a:ext cx="2667000" cy="1428750"/>
          </a:xfrm>
          <a:prstGeom prst="rect">
            <a:avLst/>
          </a:prstGeom>
          <a:noFill/>
          <a:ln w="0">
            <a:noFill/>
          </a:ln>
        </p:spPr>
        <p:txBody>
          <a:bodyPr anchor="t">
            <a:normAutofit/>
          </a:bodyPr>
          <a:lstStyle/>
          <a:p>
            <a:pPr algn="l">
              <a:defRPr sz="1650" b="0">
                <a:solidFill>
                  <a:srgbClr val="1E2633"/>
                </a:solidFill>
                <a:latin typeface="Nimbus Sans"/>
                <a:ea typeface="Nimbus Sans"/>
                <a:cs typeface="Nimbus Sans"/>
              </a:defRPr>
            </a:pPr>
            <a:r>
              <a:rPr sz="1650" b="0">
                <a:solidFill>
                  <a:srgbClr val="1E2633"/>
                </a:solidFill>
                <a:latin typeface="Nimbus Sans"/>
                <a:ea typeface="Nimbus Sans"/>
                <a:cs typeface="Nimbus Sans"/>
              </a:rPr>
              <a:t>AverageRating</a:t>
            </a:r>
          </a:p>
          <a:p>
            <a:pPr algn="l">
              <a:defRPr sz="1650" b="0">
                <a:solidFill>
                  <a:srgbClr val="1E2633"/>
                </a:solidFill>
                <a:latin typeface="Nimbus Sans"/>
                <a:ea typeface="Nimbus Sans"/>
                <a:cs typeface="Nimbus Sans"/>
              </a:defRPr>
            </a:pPr>
            <a:r>
              <a:rPr sz="1650" b="0">
                <a:solidFill>
                  <a:srgbClr val="1E2633"/>
                </a:solidFill>
                <a:latin typeface="Nimbus Sans"/>
                <a:ea typeface="Nimbus Sans"/>
                <a:cs typeface="Nimbus Sans"/>
              </a:rPr>
              <a:t>Reviewers</a:t>
            </a:r>
          </a:p>
          <a:p>
            <a:pPr algn="l">
              <a:defRPr sz="1650" b="0">
                <a:solidFill>
                  <a:srgbClr val="1E2633"/>
                </a:solidFill>
                <a:latin typeface="Nimbus Sans"/>
                <a:ea typeface="Nimbus Sans"/>
                <a:cs typeface="Nimbus Sans"/>
              </a:defRPr>
            </a:pPr>
            <a:r>
              <a:rPr sz="1650" b="0">
                <a:solidFill>
                  <a:srgbClr val="1E2633"/>
                </a:solidFill>
                <a:latin typeface="Nimbus Sans"/>
                <a:ea typeface="Nimbus Sans"/>
                <a:cs typeface="Nimbus Sans"/>
              </a:rPr>
              <a:t>City</a:t>
            </a:r>
          </a:p>
        </p:txBody>
      </p:sp>
      <p:sp>
        <p:nvSpPr>
          <p:cNvPr id="19" name="Rectangle 18">
            <a:extLst>
              <a:ext uri="{FF2B5EF4-FFF2-40B4-BE49-F238E27FC236}">
                <a16:creationId xmlns:a16="http://schemas.microsoft.com/office/drawing/2014/main" id="{BBB1A273-5CF2-4A7D-9409-7BD6A2F871AD}"/>
              </a:ext>
            </a:extLst>
          </p:cNvPr>
          <p:cNvSpPr>
            <a:spLocks noGrp="1"/>
          </p:cNvSpPr>
          <p:nvPr/>
        </p:nvSpPr>
        <p:spPr>
          <a:xfrm>
            <a:off x="6667500" y="3448050"/>
            <a:ext cx="38100" cy="2095500"/>
          </a:xfrm>
          <a:prstGeom prst="rect">
            <a:avLst/>
          </a:prstGeom>
          <a:solidFill>
            <a:srgbClr val="F3A321"/>
          </a:solidFill>
          <a:ln w="0">
            <a:noFill/>
          </a:ln>
        </p:spPr>
      </p:sp>
      <p:sp>
        <p:nvSpPr>
          <p:cNvPr id="20" name="Rectangle 19">
            <a:extLst>
              <a:ext uri="{FF2B5EF4-FFF2-40B4-BE49-F238E27FC236}">
                <a16:creationId xmlns:a16="http://schemas.microsoft.com/office/drawing/2014/main" id="{9A868C01-2791-4F46-BCD4-6CC720990926}"/>
              </a:ext>
            </a:extLst>
          </p:cNvPr>
          <p:cNvSpPr>
            <a:spLocks noGrp="1"/>
          </p:cNvSpPr>
          <p:nvPr/>
        </p:nvSpPr>
        <p:spPr>
          <a:xfrm>
            <a:off x="7086600" y="3486150"/>
            <a:ext cx="3905250" cy="361950"/>
          </a:xfrm>
          <a:prstGeom prst="rect">
            <a:avLst/>
          </a:prstGeom>
          <a:noFill/>
          <a:ln w="0">
            <a:noFill/>
          </a:ln>
        </p:spPr>
        <p:txBody>
          <a:bodyPr anchor="t">
            <a:normAutofit/>
          </a:bodyPr>
          <a:lstStyle/>
          <a:p>
            <a:pPr algn="l">
              <a:defRPr sz="1725" b="1">
                <a:solidFill>
                  <a:srgbClr val="F3A321"/>
                </a:solidFill>
                <a:latin typeface="Nimbus Sans"/>
                <a:ea typeface="Nimbus Sans"/>
                <a:cs typeface="Nimbus Sans"/>
              </a:defRPr>
            </a:pPr>
            <a:r>
              <a:rPr sz="1725" b="1">
                <a:solidFill>
                  <a:srgbClr val="F3A321"/>
                </a:solidFill>
                <a:latin typeface="Nimbus Sans"/>
                <a:ea typeface="Nimbus Sans"/>
                <a:cs typeface="Nimbus Sans"/>
              </a:rPr>
              <a:t>How one row is interpreted</a:t>
            </a:r>
          </a:p>
        </p:txBody>
      </p:sp>
      <p:sp>
        <p:nvSpPr>
          <p:cNvPr id="21" name="Rectangle 20">
            <a:extLst>
              <a:ext uri="{FF2B5EF4-FFF2-40B4-BE49-F238E27FC236}">
                <a16:creationId xmlns:a16="http://schemas.microsoft.com/office/drawing/2014/main" id="{44969684-A165-425F-A9BB-67108CE44271}"/>
              </a:ext>
            </a:extLst>
          </p:cNvPr>
          <p:cNvSpPr>
            <a:spLocks noGrp="1"/>
          </p:cNvSpPr>
          <p:nvPr/>
        </p:nvSpPr>
        <p:spPr>
          <a:xfrm>
            <a:off x="7086600" y="4076700"/>
            <a:ext cx="4095750" cy="1428750"/>
          </a:xfrm>
          <a:prstGeom prst="rect">
            <a:avLst/>
          </a:prstGeom>
          <a:noFill/>
          <a:ln w="0">
            <a:noFill/>
          </a:ln>
        </p:spPr>
        <p:txBody>
          <a:bodyPr anchor="t">
            <a:normAutofit/>
          </a:bodyPr>
          <a:lstStyle/>
          <a:p>
            <a:pPr algn="l">
              <a:defRPr sz="1650" b="0">
                <a:solidFill>
                  <a:srgbClr val="1E2633"/>
                </a:solidFill>
                <a:latin typeface="Nimbus Sans"/>
                <a:ea typeface="Nimbus Sans"/>
                <a:cs typeface="Nimbus Sans"/>
              </a:defRPr>
            </a:pPr>
            <a:r>
              <a:rPr sz="1650" b="0">
                <a:solidFill>
                  <a:srgbClr val="1E2633"/>
                </a:solidFill>
                <a:latin typeface="Nimbus Sans"/>
                <a:ea typeface="Nimbus Sans"/>
                <a:cs typeface="Nimbus Sans"/>
              </a:rPr>
              <a:t>One row represents one listing record. Repeated store identifiers mean a row cannot automatically be treated as one verified, unique restaurant.</a:t>
            </a:r>
          </a:p>
        </p:txBody>
      </p:sp>
    </p:spTree>
    <p:extLst>
      <p:ext uri="{BB962C8B-B14F-4D97-AF65-F5344CB8AC3E}">
        <p14:creationId xmlns:p14="http://schemas.microsoft.com/office/powerpoint/2010/main" val="1110775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984E3521-B6F5-4BF8-93C4-C6C5B6A59B1E}"/>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Cleaning decisions preserved the full dataset</a:t>
            </a:r>
          </a:p>
        </p:txBody>
      </p:sp>
      <p:sp>
        <p:nvSpPr>
          <p:cNvPr id="2" name="Rectangle 1">
            <a:extLst>
              <a:ext uri="{FF2B5EF4-FFF2-40B4-BE49-F238E27FC236}">
                <a16:creationId xmlns:a16="http://schemas.microsoft.com/office/drawing/2014/main" id="{63C2A105-12D1-43C3-9F9F-35A7436C01D8}"/>
              </a:ext>
            </a:extLst>
          </p:cNvPr>
          <p:cNvSpPr>
            <a:spLocks noGrp="1"/>
          </p:cNvSpPr>
          <p:nvPr/>
        </p:nvSpPr>
        <p:spPr>
          <a:xfrm>
            <a:off x="514350" y="838200"/>
            <a:ext cx="11125200" cy="266700"/>
          </a:xfrm>
          <a:prstGeom prst="rect">
            <a:avLst/>
          </a:prstGeom>
          <a:noFill/>
          <a:ln w="0">
            <a:noFill/>
          </a:ln>
        </p:spPr>
        <p:txBody>
          <a:bodyPr anchor="t">
            <a:normAutofit fontScale="97696" lnSpcReduction="10000"/>
          </a:bodyPr>
          <a:lstStyle/>
          <a:p>
            <a:pPr algn="l">
              <a:defRPr sz="1275" b="0">
                <a:solidFill>
                  <a:srgbClr val="606A78"/>
                </a:solidFill>
                <a:latin typeface="Nimbus Sans"/>
                <a:ea typeface="Nimbus Sans"/>
                <a:cs typeface="Nimbus Sans"/>
              </a:defRPr>
            </a:pPr>
            <a:r>
              <a:rPr sz="1275" b="0">
                <a:solidFill>
                  <a:srgbClr val="606A78"/>
                </a:solidFill>
                <a:latin typeface="Nimbus Sans"/>
                <a:ea typeface="Nimbus Sans"/>
                <a:cs typeface="Nimbus Sans"/>
              </a:rPr>
              <a:t>No listing records were deleted</a:t>
            </a:r>
          </a:p>
        </p:txBody>
      </p:sp>
      <p:sp>
        <p:nvSpPr>
          <p:cNvPr id="3" name="Rectangle 2">
            <a:extLst>
              <a:ext uri="{FF2B5EF4-FFF2-40B4-BE49-F238E27FC236}">
                <a16:creationId xmlns:a16="http://schemas.microsoft.com/office/drawing/2014/main" id="{8E03D1AA-338D-4490-930B-C4E5A9A8F3FB}"/>
              </a:ext>
            </a:extLst>
          </p:cNvPr>
          <p:cNvSpPr>
            <a:spLocks noGrp="1"/>
          </p:cNvSpPr>
          <p:nvPr/>
        </p:nvSpPr>
        <p:spPr>
          <a:xfrm>
            <a:off x="514350" y="1171575"/>
            <a:ext cx="11125200" cy="28575"/>
          </a:xfrm>
          <a:prstGeom prst="rect">
            <a:avLst/>
          </a:prstGeom>
          <a:solidFill>
            <a:srgbClr val="F3A321"/>
          </a:solidFill>
          <a:ln w="0">
            <a:noFill/>
          </a:ln>
        </p:spPr>
      </p:sp>
      <p:sp>
        <p:nvSpPr>
          <p:cNvPr id="5" name="Rectangle 4">
            <a:extLst>
              <a:ext uri="{FF2B5EF4-FFF2-40B4-BE49-F238E27FC236}">
                <a16:creationId xmlns:a16="http://schemas.microsoft.com/office/drawing/2014/main" id="{2E78D818-5B93-4D90-89B2-126745E01EC7}"/>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6" name="Rectangle 5">
            <a:extLst>
              <a:ext uri="{FF2B5EF4-FFF2-40B4-BE49-F238E27FC236}">
                <a16:creationId xmlns:a16="http://schemas.microsoft.com/office/drawing/2014/main" id="{8B120C25-62E7-412F-AF94-F4A65CD07D88}"/>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5</a:t>
            </a:r>
          </a:p>
        </p:txBody>
      </p:sp>
      <p:sp>
        <p:nvSpPr>
          <p:cNvPr id="7" name="Rectangle 6">
            <a:extLst>
              <a:ext uri="{FF2B5EF4-FFF2-40B4-BE49-F238E27FC236}">
                <a16:creationId xmlns:a16="http://schemas.microsoft.com/office/drawing/2014/main" id="{A14D585E-321E-41EA-B2BF-240C58E2E755}"/>
              </a:ext>
            </a:extLst>
          </p:cNvPr>
          <p:cNvSpPr>
            <a:spLocks noGrp="1"/>
          </p:cNvSpPr>
          <p:nvPr/>
        </p:nvSpPr>
        <p:spPr>
          <a:xfrm>
            <a:off x="685800" y="1466850"/>
            <a:ext cx="2476500" cy="323850"/>
          </a:xfrm>
          <a:prstGeom prst="rect">
            <a:avLst/>
          </a:prstGeom>
          <a:noFill/>
          <a:ln w="0">
            <a:noFill/>
          </a:ln>
        </p:spPr>
        <p:txBody>
          <a:bodyPr anchor="t">
            <a:normAutofit/>
          </a:bodyPr>
          <a:lstStyle/>
          <a:p>
            <a:pPr algn="l">
              <a:defRPr sz="1350" b="1">
                <a:solidFill>
                  <a:srgbClr val="606A78"/>
                </a:solidFill>
                <a:latin typeface="Nimbus Sans"/>
                <a:ea typeface="Nimbus Sans"/>
                <a:cs typeface="Nimbus Sans"/>
              </a:defRPr>
            </a:pPr>
            <a:r>
              <a:rPr sz="1350" b="1">
                <a:solidFill>
                  <a:srgbClr val="606A78"/>
                </a:solidFill>
                <a:latin typeface="Nimbus Sans"/>
                <a:ea typeface="Nimbus Sans"/>
                <a:cs typeface="Nimbus Sans"/>
              </a:rPr>
              <a:t>Issue</a:t>
            </a:r>
          </a:p>
        </p:txBody>
      </p:sp>
      <p:sp>
        <p:nvSpPr>
          <p:cNvPr id="8" name="Rectangle 7">
            <a:extLst>
              <a:ext uri="{FF2B5EF4-FFF2-40B4-BE49-F238E27FC236}">
                <a16:creationId xmlns:a16="http://schemas.microsoft.com/office/drawing/2014/main" id="{3EF0682A-62B0-44C7-8E3E-5250A5A5F3F2}"/>
              </a:ext>
            </a:extLst>
          </p:cNvPr>
          <p:cNvSpPr>
            <a:spLocks noGrp="1"/>
          </p:cNvSpPr>
          <p:nvPr/>
        </p:nvSpPr>
        <p:spPr>
          <a:xfrm>
            <a:off x="3505200" y="1466850"/>
            <a:ext cx="3429000" cy="323850"/>
          </a:xfrm>
          <a:prstGeom prst="rect">
            <a:avLst/>
          </a:prstGeom>
          <a:noFill/>
          <a:ln w="0">
            <a:noFill/>
          </a:ln>
        </p:spPr>
        <p:txBody>
          <a:bodyPr anchor="t">
            <a:normAutofit/>
          </a:bodyPr>
          <a:lstStyle/>
          <a:p>
            <a:pPr algn="l">
              <a:defRPr sz="1350" b="1">
                <a:solidFill>
                  <a:srgbClr val="606A78"/>
                </a:solidFill>
                <a:latin typeface="Nimbus Sans"/>
                <a:ea typeface="Nimbus Sans"/>
                <a:cs typeface="Nimbus Sans"/>
              </a:defRPr>
            </a:pPr>
            <a:r>
              <a:rPr sz="1350" b="1">
                <a:solidFill>
                  <a:srgbClr val="606A78"/>
                </a:solidFill>
                <a:latin typeface="Nimbus Sans"/>
                <a:ea typeface="Nimbus Sans"/>
                <a:cs typeface="Nimbus Sans"/>
              </a:rPr>
              <a:t>Finding</a:t>
            </a:r>
          </a:p>
        </p:txBody>
      </p:sp>
      <p:sp>
        <p:nvSpPr>
          <p:cNvPr id="9" name="Rectangle 8">
            <a:extLst>
              <a:ext uri="{FF2B5EF4-FFF2-40B4-BE49-F238E27FC236}">
                <a16:creationId xmlns:a16="http://schemas.microsoft.com/office/drawing/2014/main" id="{A7C8BBB6-B1AC-46D7-97DC-E122B8155AC3}"/>
              </a:ext>
            </a:extLst>
          </p:cNvPr>
          <p:cNvSpPr>
            <a:spLocks noGrp="1"/>
          </p:cNvSpPr>
          <p:nvPr/>
        </p:nvSpPr>
        <p:spPr>
          <a:xfrm>
            <a:off x="7543800" y="1466850"/>
            <a:ext cx="3429000" cy="323850"/>
          </a:xfrm>
          <a:prstGeom prst="rect">
            <a:avLst/>
          </a:prstGeom>
          <a:noFill/>
          <a:ln w="0">
            <a:noFill/>
          </a:ln>
        </p:spPr>
        <p:txBody>
          <a:bodyPr anchor="t">
            <a:normAutofit/>
          </a:bodyPr>
          <a:lstStyle/>
          <a:p>
            <a:pPr algn="l">
              <a:defRPr sz="1350" b="1">
                <a:solidFill>
                  <a:srgbClr val="606A78"/>
                </a:solidFill>
                <a:latin typeface="Nimbus Sans"/>
                <a:ea typeface="Nimbus Sans"/>
                <a:cs typeface="Nimbus Sans"/>
              </a:defRPr>
            </a:pPr>
            <a:r>
              <a:rPr sz="1350" b="1">
                <a:solidFill>
                  <a:srgbClr val="606A78"/>
                </a:solidFill>
                <a:latin typeface="Nimbus Sans"/>
                <a:ea typeface="Nimbus Sans"/>
                <a:cs typeface="Nimbus Sans"/>
              </a:rPr>
              <a:t>Decision</a:t>
            </a:r>
          </a:p>
        </p:txBody>
      </p:sp>
      <p:sp>
        <p:nvSpPr>
          <p:cNvPr id="10" name="Rectangle 9">
            <a:extLst>
              <a:ext uri="{FF2B5EF4-FFF2-40B4-BE49-F238E27FC236}">
                <a16:creationId xmlns:a16="http://schemas.microsoft.com/office/drawing/2014/main" id="{CD257F18-D31A-4CCC-9B5B-A473DAB9D78A}"/>
              </a:ext>
            </a:extLst>
          </p:cNvPr>
          <p:cNvSpPr>
            <a:spLocks noGrp="1"/>
          </p:cNvSpPr>
          <p:nvPr/>
        </p:nvSpPr>
        <p:spPr>
          <a:xfrm>
            <a:off x="628650" y="1847850"/>
            <a:ext cx="10896600" cy="19050"/>
          </a:xfrm>
          <a:prstGeom prst="rect">
            <a:avLst/>
          </a:prstGeom>
          <a:solidFill>
            <a:srgbClr val="202A63"/>
          </a:solidFill>
          <a:ln w="0">
            <a:noFill/>
          </a:ln>
        </p:spPr>
      </p:sp>
      <p:sp>
        <p:nvSpPr>
          <p:cNvPr id="11" name="Rectangle 10">
            <a:extLst>
              <a:ext uri="{FF2B5EF4-FFF2-40B4-BE49-F238E27FC236}">
                <a16:creationId xmlns:a16="http://schemas.microsoft.com/office/drawing/2014/main" id="{925CB2ED-BA51-49D0-87B3-9B18984CB12F}"/>
              </a:ext>
            </a:extLst>
          </p:cNvPr>
          <p:cNvSpPr>
            <a:spLocks noGrp="1"/>
          </p:cNvSpPr>
          <p:nvPr/>
        </p:nvSpPr>
        <p:spPr>
          <a:xfrm>
            <a:off x="685800" y="2038350"/>
            <a:ext cx="2571750" cy="514350"/>
          </a:xfrm>
          <a:prstGeom prst="rect">
            <a:avLst/>
          </a:prstGeom>
          <a:noFill/>
          <a:ln w="0">
            <a:noFill/>
          </a:ln>
        </p:spPr>
        <p:txBody>
          <a:bodyPr anchor="t">
            <a:normAutofit/>
          </a:bodyPr>
          <a:lstStyle/>
          <a:p>
            <a:pPr algn="l">
              <a:defRPr sz="1500" b="1">
                <a:solidFill>
                  <a:srgbClr val="202A63"/>
                </a:solidFill>
                <a:latin typeface="Nimbus Sans"/>
                <a:ea typeface="Nimbus Sans"/>
                <a:cs typeface="Nimbus Sans"/>
              </a:defRPr>
            </a:pPr>
            <a:r>
              <a:rPr sz="1500" b="1">
                <a:solidFill>
                  <a:srgbClr val="202A63"/>
                </a:solidFill>
                <a:latin typeface="Nimbus Sans"/>
                <a:ea typeface="Nimbus Sans"/>
                <a:cs typeface="Nimbus Sans"/>
              </a:rPr>
              <a:t>Missing FoodType</a:t>
            </a:r>
          </a:p>
        </p:txBody>
      </p:sp>
      <p:sp>
        <p:nvSpPr>
          <p:cNvPr id="12" name="Rectangle 11">
            <a:extLst>
              <a:ext uri="{FF2B5EF4-FFF2-40B4-BE49-F238E27FC236}">
                <a16:creationId xmlns:a16="http://schemas.microsoft.com/office/drawing/2014/main" id="{08B84EA5-D5FF-4D47-8A41-832379B7E3AD}"/>
              </a:ext>
            </a:extLst>
          </p:cNvPr>
          <p:cNvSpPr>
            <a:spLocks noGrp="1"/>
          </p:cNvSpPr>
          <p:nvPr/>
        </p:nvSpPr>
        <p:spPr>
          <a:xfrm>
            <a:off x="3505200" y="2038350"/>
            <a:ext cx="3524250" cy="55245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91 values</a:t>
            </a:r>
          </a:p>
        </p:txBody>
      </p:sp>
      <p:sp>
        <p:nvSpPr>
          <p:cNvPr id="13" name="Rectangle 12">
            <a:extLst>
              <a:ext uri="{FF2B5EF4-FFF2-40B4-BE49-F238E27FC236}">
                <a16:creationId xmlns:a16="http://schemas.microsoft.com/office/drawing/2014/main" id="{3F3A42FF-7EB4-470B-BF21-61188B603798}"/>
              </a:ext>
            </a:extLst>
          </p:cNvPr>
          <p:cNvSpPr>
            <a:spLocks noGrp="1"/>
          </p:cNvSpPr>
          <p:nvPr/>
        </p:nvSpPr>
        <p:spPr>
          <a:xfrm>
            <a:off x="7543800" y="2038350"/>
            <a:ext cx="3619500" cy="55245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Filled with Unknown</a:t>
            </a:r>
          </a:p>
        </p:txBody>
      </p:sp>
      <p:sp>
        <p:nvSpPr>
          <p:cNvPr id="14" name="Rectangle 13">
            <a:extLst>
              <a:ext uri="{FF2B5EF4-FFF2-40B4-BE49-F238E27FC236}">
                <a16:creationId xmlns:a16="http://schemas.microsoft.com/office/drawing/2014/main" id="{AC598346-2313-4CDF-B270-DD629C4B0D8A}"/>
              </a:ext>
            </a:extLst>
          </p:cNvPr>
          <p:cNvSpPr>
            <a:spLocks noGrp="1"/>
          </p:cNvSpPr>
          <p:nvPr/>
        </p:nvSpPr>
        <p:spPr>
          <a:xfrm>
            <a:off x="628650" y="2667000"/>
            <a:ext cx="10896600" cy="9525"/>
          </a:xfrm>
          <a:prstGeom prst="rect">
            <a:avLst/>
          </a:prstGeom>
          <a:solidFill>
            <a:srgbClr val="D5DAE1"/>
          </a:solidFill>
          <a:ln w="0">
            <a:noFill/>
          </a:ln>
        </p:spPr>
      </p:sp>
      <p:sp>
        <p:nvSpPr>
          <p:cNvPr id="15" name="Rectangle 14">
            <a:extLst>
              <a:ext uri="{FF2B5EF4-FFF2-40B4-BE49-F238E27FC236}">
                <a16:creationId xmlns:a16="http://schemas.microsoft.com/office/drawing/2014/main" id="{4520CD52-1C9F-44F8-8EA6-9A7EC22F41F6}"/>
              </a:ext>
            </a:extLst>
          </p:cNvPr>
          <p:cNvSpPr>
            <a:spLocks noGrp="1"/>
          </p:cNvSpPr>
          <p:nvPr/>
        </p:nvSpPr>
        <p:spPr>
          <a:xfrm>
            <a:off x="685800" y="2828925"/>
            <a:ext cx="2571750" cy="514350"/>
          </a:xfrm>
          <a:prstGeom prst="rect">
            <a:avLst/>
          </a:prstGeom>
          <a:noFill/>
          <a:ln w="0">
            <a:noFill/>
          </a:ln>
        </p:spPr>
        <p:txBody>
          <a:bodyPr anchor="t">
            <a:normAutofit/>
          </a:bodyPr>
          <a:lstStyle/>
          <a:p>
            <a:pPr algn="l">
              <a:defRPr sz="1500" b="1">
                <a:solidFill>
                  <a:srgbClr val="202A63"/>
                </a:solidFill>
                <a:latin typeface="Nimbus Sans"/>
                <a:ea typeface="Nimbus Sans"/>
                <a:cs typeface="Nimbus Sans"/>
              </a:defRPr>
            </a:pPr>
            <a:r>
              <a:rPr sz="1500" b="1">
                <a:solidFill>
                  <a:srgbClr val="202A63"/>
                </a:solidFill>
                <a:latin typeface="Nimbus Sans"/>
                <a:ea typeface="Nimbus Sans"/>
                <a:cs typeface="Nimbus Sans"/>
              </a:rPr>
              <a:t>Text formatting</a:t>
            </a:r>
          </a:p>
        </p:txBody>
      </p:sp>
      <p:sp>
        <p:nvSpPr>
          <p:cNvPr id="16" name="Rectangle 15">
            <a:extLst>
              <a:ext uri="{FF2B5EF4-FFF2-40B4-BE49-F238E27FC236}">
                <a16:creationId xmlns:a16="http://schemas.microsoft.com/office/drawing/2014/main" id="{3A3BB26B-7F90-4286-8C9F-DA931B84E754}"/>
              </a:ext>
            </a:extLst>
          </p:cNvPr>
          <p:cNvSpPr>
            <a:spLocks noGrp="1"/>
          </p:cNvSpPr>
          <p:nvPr/>
        </p:nvSpPr>
        <p:spPr>
          <a:xfrm>
            <a:off x="3505200" y="2828925"/>
            <a:ext cx="3524250" cy="55245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Spaces and lowercase city labels</a:t>
            </a:r>
          </a:p>
        </p:txBody>
      </p:sp>
      <p:sp>
        <p:nvSpPr>
          <p:cNvPr id="17" name="Rectangle 16">
            <a:extLst>
              <a:ext uri="{FF2B5EF4-FFF2-40B4-BE49-F238E27FC236}">
                <a16:creationId xmlns:a16="http://schemas.microsoft.com/office/drawing/2014/main" id="{BFAD5413-4D00-460C-9A89-4EB42B272C32}"/>
              </a:ext>
            </a:extLst>
          </p:cNvPr>
          <p:cNvSpPr>
            <a:spLocks noGrp="1"/>
          </p:cNvSpPr>
          <p:nvPr/>
        </p:nvSpPr>
        <p:spPr>
          <a:xfrm>
            <a:off x="7543800" y="2828925"/>
            <a:ext cx="3619500" cy="55245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Trimmed and standardized</a:t>
            </a:r>
          </a:p>
        </p:txBody>
      </p:sp>
      <p:sp>
        <p:nvSpPr>
          <p:cNvPr id="18" name="Rectangle 17">
            <a:extLst>
              <a:ext uri="{FF2B5EF4-FFF2-40B4-BE49-F238E27FC236}">
                <a16:creationId xmlns:a16="http://schemas.microsoft.com/office/drawing/2014/main" id="{E37A09BC-A086-4E99-A16D-9E776444478C}"/>
              </a:ext>
            </a:extLst>
          </p:cNvPr>
          <p:cNvSpPr>
            <a:spLocks noGrp="1"/>
          </p:cNvSpPr>
          <p:nvPr/>
        </p:nvSpPr>
        <p:spPr>
          <a:xfrm>
            <a:off x="628650" y="3457575"/>
            <a:ext cx="10896600" cy="9525"/>
          </a:xfrm>
          <a:prstGeom prst="rect">
            <a:avLst/>
          </a:prstGeom>
          <a:solidFill>
            <a:srgbClr val="D5DAE1"/>
          </a:solidFill>
          <a:ln w="0">
            <a:noFill/>
          </a:ln>
        </p:spPr>
      </p:sp>
      <p:sp>
        <p:nvSpPr>
          <p:cNvPr id="19" name="Rectangle 18">
            <a:extLst>
              <a:ext uri="{FF2B5EF4-FFF2-40B4-BE49-F238E27FC236}">
                <a16:creationId xmlns:a16="http://schemas.microsoft.com/office/drawing/2014/main" id="{8507904B-0A9F-4436-A2CB-C6ACB0AAA8BB}"/>
              </a:ext>
            </a:extLst>
          </p:cNvPr>
          <p:cNvSpPr>
            <a:spLocks noGrp="1"/>
          </p:cNvSpPr>
          <p:nvPr/>
        </p:nvSpPr>
        <p:spPr>
          <a:xfrm>
            <a:off x="685800" y="3619500"/>
            <a:ext cx="2571750" cy="514350"/>
          </a:xfrm>
          <a:prstGeom prst="rect">
            <a:avLst/>
          </a:prstGeom>
          <a:noFill/>
          <a:ln w="0">
            <a:noFill/>
          </a:ln>
        </p:spPr>
        <p:txBody>
          <a:bodyPr anchor="t">
            <a:normAutofit/>
          </a:bodyPr>
          <a:lstStyle/>
          <a:p>
            <a:pPr algn="l">
              <a:defRPr sz="1500" b="1">
                <a:solidFill>
                  <a:srgbClr val="202A63"/>
                </a:solidFill>
                <a:latin typeface="Nimbus Sans"/>
                <a:ea typeface="Nimbus Sans"/>
                <a:cs typeface="Nimbus Sans"/>
              </a:defRPr>
            </a:pPr>
            <a:r>
              <a:rPr sz="1500" b="1">
                <a:solidFill>
                  <a:srgbClr val="202A63"/>
                </a:solidFill>
                <a:latin typeface="Nimbus Sans"/>
                <a:ea typeface="Nimbus Sans"/>
                <a:cs typeface="Nimbus Sans"/>
              </a:rPr>
              <a:t>Repeated StoreId</a:t>
            </a:r>
          </a:p>
        </p:txBody>
      </p:sp>
      <p:sp>
        <p:nvSpPr>
          <p:cNvPr id="20" name="Rectangle 19">
            <a:extLst>
              <a:ext uri="{FF2B5EF4-FFF2-40B4-BE49-F238E27FC236}">
                <a16:creationId xmlns:a16="http://schemas.microsoft.com/office/drawing/2014/main" id="{856CDD49-1D89-4AAA-B09C-3463AB27B08F}"/>
              </a:ext>
            </a:extLst>
          </p:cNvPr>
          <p:cNvSpPr>
            <a:spLocks noGrp="1"/>
          </p:cNvSpPr>
          <p:nvPr/>
        </p:nvSpPr>
        <p:spPr>
          <a:xfrm>
            <a:off x="3505200" y="3619500"/>
            <a:ext cx="3524250" cy="55245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67 identifiers across 134 rows</a:t>
            </a:r>
          </a:p>
        </p:txBody>
      </p:sp>
      <p:sp>
        <p:nvSpPr>
          <p:cNvPr id="21" name="Rectangle 20">
            <a:extLst>
              <a:ext uri="{FF2B5EF4-FFF2-40B4-BE49-F238E27FC236}">
                <a16:creationId xmlns:a16="http://schemas.microsoft.com/office/drawing/2014/main" id="{32FD3245-BE7F-4F99-8002-F2D52B909483}"/>
              </a:ext>
            </a:extLst>
          </p:cNvPr>
          <p:cNvSpPr>
            <a:spLocks noGrp="1"/>
          </p:cNvSpPr>
          <p:nvPr/>
        </p:nvSpPr>
        <p:spPr>
          <a:xfrm>
            <a:off x="7543800" y="3619500"/>
            <a:ext cx="3619500" cy="55245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Retained for investigation</a:t>
            </a:r>
          </a:p>
        </p:txBody>
      </p:sp>
      <p:sp>
        <p:nvSpPr>
          <p:cNvPr id="22" name="Rectangle 21">
            <a:extLst>
              <a:ext uri="{FF2B5EF4-FFF2-40B4-BE49-F238E27FC236}">
                <a16:creationId xmlns:a16="http://schemas.microsoft.com/office/drawing/2014/main" id="{50E31CF7-7FEA-4E68-B624-BE4FCE9D8886}"/>
              </a:ext>
            </a:extLst>
          </p:cNvPr>
          <p:cNvSpPr>
            <a:spLocks noGrp="1"/>
          </p:cNvSpPr>
          <p:nvPr/>
        </p:nvSpPr>
        <p:spPr>
          <a:xfrm>
            <a:off x="628650" y="4248150"/>
            <a:ext cx="10896600" cy="9525"/>
          </a:xfrm>
          <a:prstGeom prst="rect">
            <a:avLst/>
          </a:prstGeom>
          <a:solidFill>
            <a:srgbClr val="D5DAE1"/>
          </a:solidFill>
          <a:ln w="0">
            <a:noFill/>
          </a:ln>
        </p:spPr>
      </p:sp>
      <p:sp>
        <p:nvSpPr>
          <p:cNvPr id="23" name="Rectangle 22">
            <a:extLst>
              <a:ext uri="{FF2B5EF4-FFF2-40B4-BE49-F238E27FC236}">
                <a16:creationId xmlns:a16="http://schemas.microsoft.com/office/drawing/2014/main" id="{3506A3D5-D769-4B69-8E67-F9BEF10E3921}"/>
              </a:ext>
            </a:extLst>
          </p:cNvPr>
          <p:cNvSpPr>
            <a:spLocks noGrp="1"/>
          </p:cNvSpPr>
          <p:nvPr/>
        </p:nvSpPr>
        <p:spPr>
          <a:xfrm>
            <a:off x="685800" y="4410075"/>
            <a:ext cx="2571750" cy="514350"/>
          </a:xfrm>
          <a:prstGeom prst="rect">
            <a:avLst/>
          </a:prstGeom>
          <a:noFill/>
          <a:ln w="0">
            <a:noFill/>
          </a:ln>
        </p:spPr>
        <p:txBody>
          <a:bodyPr anchor="t">
            <a:normAutofit/>
          </a:bodyPr>
          <a:lstStyle/>
          <a:p>
            <a:pPr algn="l">
              <a:defRPr sz="1500" b="1">
                <a:solidFill>
                  <a:srgbClr val="202A63"/>
                </a:solidFill>
                <a:latin typeface="Nimbus Sans"/>
                <a:ea typeface="Nimbus Sans"/>
                <a:cs typeface="Nimbus Sans"/>
              </a:defRPr>
            </a:pPr>
            <a:r>
              <a:rPr sz="1500" b="1">
                <a:solidFill>
                  <a:srgbClr val="202A63"/>
                </a:solidFill>
                <a:latin typeface="Nimbus Sans"/>
                <a:ea typeface="Nimbus Sans"/>
                <a:cs typeface="Nimbus Sans"/>
              </a:rPr>
              <a:t>Unrated listings</a:t>
            </a:r>
          </a:p>
        </p:txBody>
      </p:sp>
      <p:sp>
        <p:nvSpPr>
          <p:cNvPr id="24" name="Rectangle 23">
            <a:extLst>
              <a:ext uri="{FF2B5EF4-FFF2-40B4-BE49-F238E27FC236}">
                <a16:creationId xmlns:a16="http://schemas.microsoft.com/office/drawing/2014/main" id="{85810FB5-3AB1-47AD-9473-66F6277679B9}"/>
              </a:ext>
            </a:extLst>
          </p:cNvPr>
          <p:cNvSpPr>
            <a:spLocks noGrp="1"/>
          </p:cNvSpPr>
          <p:nvPr/>
        </p:nvSpPr>
        <p:spPr>
          <a:xfrm>
            <a:off x="3505200" y="4410075"/>
            <a:ext cx="3524250" cy="55245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3,037 with zero reviewers and rating</a:t>
            </a:r>
          </a:p>
        </p:txBody>
      </p:sp>
      <p:sp>
        <p:nvSpPr>
          <p:cNvPr id="25" name="Rectangle 24">
            <a:extLst>
              <a:ext uri="{FF2B5EF4-FFF2-40B4-BE49-F238E27FC236}">
                <a16:creationId xmlns:a16="http://schemas.microsoft.com/office/drawing/2014/main" id="{2FB90446-5CD4-40F1-AC90-EC8613D6BE3D}"/>
              </a:ext>
            </a:extLst>
          </p:cNvPr>
          <p:cNvSpPr>
            <a:spLocks noGrp="1"/>
          </p:cNvSpPr>
          <p:nvPr/>
        </p:nvSpPr>
        <p:spPr>
          <a:xfrm>
            <a:off x="7543800" y="4410075"/>
            <a:ext cx="3619500" cy="55245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Separated from rating analysis</a:t>
            </a:r>
          </a:p>
        </p:txBody>
      </p:sp>
      <p:sp>
        <p:nvSpPr>
          <p:cNvPr id="26" name="Rectangle 25">
            <a:extLst>
              <a:ext uri="{FF2B5EF4-FFF2-40B4-BE49-F238E27FC236}">
                <a16:creationId xmlns:a16="http://schemas.microsoft.com/office/drawing/2014/main" id="{85815D02-56FA-4DD4-B44B-56BBE9D5010B}"/>
              </a:ext>
            </a:extLst>
          </p:cNvPr>
          <p:cNvSpPr>
            <a:spLocks noGrp="1"/>
          </p:cNvSpPr>
          <p:nvPr/>
        </p:nvSpPr>
        <p:spPr>
          <a:xfrm>
            <a:off x="628650" y="5038725"/>
            <a:ext cx="10896600" cy="9525"/>
          </a:xfrm>
          <a:prstGeom prst="rect">
            <a:avLst/>
          </a:prstGeom>
          <a:solidFill>
            <a:srgbClr val="D5DAE1"/>
          </a:solidFill>
          <a:ln w="0">
            <a:noFill/>
          </a:ln>
        </p:spPr>
      </p:sp>
      <p:sp>
        <p:nvSpPr>
          <p:cNvPr id="27" name="Rectangle 26">
            <a:extLst>
              <a:ext uri="{FF2B5EF4-FFF2-40B4-BE49-F238E27FC236}">
                <a16:creationId xmlns:a16="http://schemas.microsoft.com/office/drawing/2014/main" id="{BF028CF5-8568-4F5C-A833-509A4D845E39}"/>
              </a:ext>
            </a:extLst>
          </p:cNvPr>
          <p:cNvSpPr>
            <a:spLocks noGrp="1"/>
          </p:cNvSpPr>
          <p:nvPr/>
        </p:nvSpPr>
        <p:spPr>
          <a:xfrm>
            <a:off x="685800" y="5200650"/>
            <a:ext cx="2571750" cy="514350"/>
          </a:xfrm>
          <a:prstGeom prst="rect">
            <a:avLst/>
          </a:prstGeom>
          <a:noFill/>
          <a:ln w="0">
            <a:noFill/>
          </a:ln>
        </p:spPr>
        <p:txBody>
          <a:bodyPr anchor="t">
            <a:normAutofit/>
          </a:bodyPr>
          <a:lstStyle/>
          <a:p>
            <a:pPr algn="l">
              <a:defRPr sz="1500" b="1">
                <a:solidFill>
                  <a:srgbClr val="202A63"/>
                </a:solidFill>
                <a:latin typeface="Nimbus Sans"/>
                <a:ea typeface="Nimbus Sans"/>
                <a:cs typeface="Nimbus Sans"/>
              </a:defRPr>
            </a:pPr>
            <a:r>
              <a:rPr sz="1500" b="1">
                <a:solidFill>
                  <a:srgbClr val="202A63"/>
                </a:solidFill>
                <a:latin typeface="Nimbus Sans"/>
                <a:ea typeface="Nimbus Sans"/>
                <a:cs typeface="Nimbus Sans"/>
              </a:rPr>
              <a:t>Reviewer outliers</a:t>
            </a:r>
          </a:p>
        </p:txBody>
      </p:sp>
      <p:sp>
        <p:nvSpPr>
          <p:cNvPr id="28" name="Rectangle 27">
            <a:extLst>
              <a:ext uri="{FF2B5EF4-FFF2-40B4-BE49-F238E27FC236}">
                <a16:creationId xmlns:a16="http://schemas.microsoft.com/office/drawing/2014/main" id="{6D602E66-FE06-46F8-9D9B-E061695310E7}"/>
              </a:ext>
            </a:extLst>
          </p:cNvPr>
          <p:cNvSpPr>
            <a:spLocks noGrp="1"/>
          </p:cNvSpPr>
          <p:nvPr/>
        </p:nvSpPr>
        <p:spPr>
          <a:xfrm>
            <a:off x="3505200" y="5200650"/>
            <a:ext cx="3524250" cy="55245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1,517 above the IQR limit</a:t>
            </a:r>
          </a:p>
        </p:txBody>
      </p:sp>
      <p:sp>
        <p:nvSpPr>
          <p:cNvPr id="29" name="Rectangle 28">
            <a:extLst>
              <a:ext uri="{FF2B5EF4-FFF2-40B4-BE49-F238E27FC236}">
                <a16:creationId xmlns:a16="http://schemas.microsoft.com/office/drawing/2014/main" id="{B00D21E3-7A8A-40A6-94E5-D293F26ED210}"/>
              </a:ext>
            </a:extLst>
          </p:cNvPr>
          <p:cNvSpPr>
            <a:spLocks noGrp="1"/>
          </p:cNvSpPr>
          <p:nvPr/>
        </p:nvSpPr>
        <p:spPr>
          <a:xfrm>
            <a:off x="7543800" y="5200650"/>
            <a:ext cx="3619500" cy="55245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Flagged and retained</a:t>
            </a:r>
          </a:p>
        </p:txBody>
      </p:sp>
    </p:spTree>
    <p:extLst>
      <p:ext uri="{BB962C8B-B14F-4D97-AF65-F5344CB8AC3E}">
        <p14:creationId xmlns:p14="http://schemas.microsoft.com/office/powerpoint/2010/main" val="780533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DB5ADFA-7DEA-4426-B5FD-329BB08EAA7D}"/>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Restaurant listings are unevenly distributed</a:t>
            </a:r>
          </a:p>
        </p:txBody>
      </p:sp>
      <p:sp>
        <p:nvSpPr>
          <p:cNvPr id="2" name="Rectangle 1">
            <a:extLst>
              <a:ext uri="{FF2B5EF4-FFF2-40B4-BE49-F238E27FC236}">
                <a16:creationId xmlns:a16="http://schemas.microsoft.com/office/drawing/2014/main" id="{3E70B662-C5C4-4865-BF32-AB95A32BD44E}"/>
              </a:ext>
            </a:extLst>
          </p:cNvPr>
          <p:cNvSpPr>
            <a:spLocks noGrp="1"/>
          </p:cNvSpPr>
          <p:nvPr/>
        </p:nvSpPr>
        <p:spPr>
          <a:xfrm>
            <a:off x="514350" y="838200"/>
            <a:ext cx="11125200" cy="266700"/>
          </a:xfrm>
          <a:prstGeom prst="rect">
            <a:avLst/>
          </a:prstGeom>
          <a:noFill/>
          <a:ln w="0">
            <a:noFill/>
          </a:ln>
        </p:spPr>
        <p:txBody>
          <a:bodyPr anchor="t">
            <a:normAutofit fontScale="97696" lnSpcReduction="10000"/>
          </a:bodyPr>
          <a:lstStyle/>
          <a:p>
            <a:pPr algn="l">
              <a:defRPr sz="1275" b="0">
                <a:solidFill>
                  <a:srgbClr val="606A78"/>
                </a:solidFill>
                <a:latin typeface="Nimbus Sans"/>
                <a:ea typeface="Nimbus Sans"/>
                <a:cs typeface="Nimbus Sans"/>
              </a:defRPr>
            </a:pPr>
            <a:r>
              <a:rPr sz="1275" b="0">
                <a:solidFill>
                  <a:srgbClr val="606A78"/>
                </a:solidFill>
                <a:latin typeface="Nimbus Sans"/>
                <a:ea typeface="Nimbus Sans"/>
                <a:cs typeface="Nimbus Sans"/>
              </a:rPr>
              <a:t>Specific Objective 4: listing counts and city shares</a:t>
            </a:r>
          </a:p>
        </p:txBody>
      </p:sp>
      <p:sp>
        <p:nvSpPr>
          <p:cNvPr id="3" name="Rectangle 2">
            <a:extLst>
              <a:ext uri="{FF2B5EF4-FFF2-40B4-BE49-F238E27FC236}">
                <a16:creationId xmlns:a16="http://schemas.microsoft.com/office/drawing/2014/main" id="{4845D5DB-ECCE-436E-83EA-03445DBA4A01}"/>
              </a:ext>
            </a:extLst>
          </p:cNvPr>
          <p:cNvSpPr>
            <a:spLocks noGrp="1"/>
          </p:cNvSpPr>
          <p:nvPr/>
        </p:nvSpPr>
        <p:spPr>
          <a:xfrm>
            <a:off x="514350" y="1171575"/>
            <a:ext cx="11125200" cy="28575"/>
          </a:xfrm>
          <a:prstGeom prst="rect">
            <a:avLst/>
          </a:prstGeom>
          <a:solidFill>
            <a:srgbClr val="F3A321"/>
          </a:solidFill>
          <a:ln w="0">
            <a:noFill/>
          </a:ln>
        </p:spPr>
      </p:sp>
      <p:sp>
        <p:nvSpPr>
          <p:cNvPr id="5" name="Rectangle 4">
            <a:extLst>
              <a:ext uri="{FF2B5EF4-FFF2-40B4-BE49-F238E27FC236}">
                <a16:creationId xmlns:a16="http://schemas.microsoft.com/office/drawing/2014/main" id="{7E2B8012-CBCF-4B66-90DA-E3B5BC3DA51A}"/>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6" name="Rectangle 5">
            <a:extLst>
              <a:ext uri="{FF2B5EF4-FFF2-40B4-BE49-F238E27FC236}">
                <a16:creationId xmlns:a16="http://schemas.microsoft.com/office/drawing/2014/main" id="{8378A3EC-1A40-41EF-BE91-AEF16AEE30B0}"/>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6</a:t>
            </a:r>
          </a:p>
        </p:txBody>
      </p:sp>
      <p:pic>
        <p:nvPicPr>
          <p:cNvPr id="19" name="Picture 18"/>
          <p:cNvPicPr>
            <a:picLocks noChangeAspect="1"/>
          </p:cNvPicPr>
          <p:nvPr/>
        </p:nvPicPr>
        <p:blipFill>
          <a:blip r:embed="rId3"/>
          <a:stretch/>
        </p:blipFill>
        <p:spPr>
          <a:xfrm>
            <a:off x="1387801" y="1295400"/>
            <a:ext cx="6168373" cy="4905375"/>
          </a:xfrm>
          <a:prstGeom prst="rect">
            <a:avLst/>
          </a:prstGeom>
        </p:spPr>
      </p:pic>
      <p:sp>
        <p:nvSpPr>
          <p:cNvPr id="8" name="Rectangle 7">
            <a:extLst>
              <a:ext uri="{FF2B5EF4-FFF2-40B4-BE49-F238E27FC236}">
                <a16:creationId xmlns:a16="http://schemas.microsoft.com/office/drawing/2014/main" id="{3D88386B-CDEE-4F00-9EE3-22FF34E7F760}"/>
              </a:ext>
            </a:extLst>
          </p:cNvPr>
          <p:cNvSpPr>
            <a:spLocks noGrp="1"/>
          </p:cNvSpPr>
          <p:nvPr/>
        </p:nvSpPr>
        <p:spPr>
          <a:xfrm>
            <a:off x="8782050" y="1428750"/>
            <a:ext cx="57150" cy="4191000"/>
          </a:xfrm>
          <a:prstGeom prst="rect">
            <a:avLst/>
          </a:prstGeom>
          <a:solidFill>
            <a:srgbClr val="1769AA"/>
          </a:solidFill>
          <a:ln w="0">
            <a:noFill/>
          </a:ln>
        </p:spPr>
      </p:sp>
      <p:sp>
        <p:nvSpPr>
          <p:cNvPr id="9" name="Rectangle 8">
            <a:extLst>
              <a:ext uri="{FF2B5EF4-FFF2-40B4-BE49-F238E27FC236}">
                <a16:creationId xmlns:a16="http://schemas.microsoft.com/office/drawing/2014/main" id="{657F5909-CFDE-43C1-875F-992EE351061E}"/>
              </a:ext>
            </a:extLst>
          </p:cNvPr>
          <p:cNvSpPr>
            <a:spLocks noGrp="1"/>
          </p:cNvSpPr>
          <p:nvPr/>
        </p:nvSpPr>
        <p:spPr>
          <a:xfrm>
            <a:off x="9105900" y="1485900"/>
            <a:ext cx="2381250" cy="361950"/>
          </a:xfrm>
          <a:prstGeom prst="rect">
            <a:avLst/>
          </a:prstGeom>
          <a:noFill/>
          <a:ln w="0">
            <a:noFill/>
          </a:ln>
        </p:spPr>
        <p:txBody>
          <a:bodyPr anchor="t">
            <a:normAutofit/>
          </a:bodyPr>
          <a:lstStyle/>
          <a:p>
            <a:pPr algn="l">
              <a:defRPr sz="1650" b="1">
                <a:solidFill>
                  <a:srgbClr val="1769AA"/>
                </a:solidFill>
                <a:latin typeface="Nimbus Sans"/>
                <a:ea typeface="Nimbus Sans"/>
                <a:cs typeface="Nimbus Sans"/>
              </a:defRPr>
            </a:pPr>
            <a:r>
              <a:rPr sz="1650" b="1">
                <a:solidFill>
                  <a:srgbClr val="1769AA"/>
                </a:solidFill>
                <a:latin typeface="Nimbus Sans"/>
                <a:ea typeface="Nimbus Sans"/>
                <a:cs typeface="Nimbus Sans"/>
              </a:rPr>
              <a:t>What the chart shows</a:t>
            </a:r>
          </a:p>
        </p:txBody>
      </p:sp>
      <p:sp>
        <p:nvSpPr>
          <p:cNvPr id="10" name="Rectangle 9">
            <a:extLst>
              <a:ext uri="{FF2B5EF4-FFF2-40B4-BE49-F238E27FC236}">
                <a16:creationId xmlns:a16="http://schemas.microsoft.com/office/drawing/2014/main" id="{CF8A6EFC-8449-477A-BF63-B2EEC5341304}"/>
              </a:ext>
            </a:extLst>
          </p:cNvPr>
          <p:cNvSpPr>
            <a:spLocks noGrp="1"/>
          </p:cNvSpPr>
          <p:nvPr/>
        </p:nvSpPr>
        <p:spPr>
          <a:xfrm>
            <a:off x="9105900" y="2076450"/>
            <a:ext cx="2381250" cy="800100"/>
          </a:xfrm>
          <a:prstGeom prst="rect">
            <a:avLst/>
          </a:prstGeom>
          <a:noFill/>
          <a:ln w="0">
            <a:noFill/>
          </a:ln>
        </p:spPr>
        <p:txBody>
          <a:bodyPr anchor="t">
            <a:normAutofit/>
          </a:bodyPr>
          <a:lstStyle/>
          <a:p>
            <a:pPr algn="l">
              <a:defRPr sz="1425" b="0">
                <a:solidFill>
                  <a:srgbClr val="1E2633"/>
                </a:solidFill>
                <a:latin typeface="Nimbus Sans"/>
                <a:ea typeface="Nimbus Sans"/>
                <a:cs typeface="Nimbus Sans"/>
              </a:defRPr>
            </a:pPr>
            <a:r>
              <a:rPr sz="1425" b="0">
                <a:solidFill>
                  <a:srgbClr val="1E2633"/>
                </a:solidFill>
                <a:latin typeface="Nimbus Sans"/>
                <a:ea typeface="Nimbus Sans"/>
                <a:cs typeface="Nimbus Sans"/>
              </a:rPr>
              <a:t>Quezon City has 2,211 listings, or 17.82% of the dataset.</a:t>
            </a:r>
          </a:p>
        </p:txBody>
      </p:sp>
      <p:sp>
        <p:nvSpPr>
          <p:cNvPr id="11" name="Rectangle 10">
            <a:extLst>
              <a:ext uri="{FF2B5EF4-FFF2-40B4-BE49-F238E27FC236}">
                <a16:creationId xmlns:a16="http://schemas.microsoft.com/office/drawing/2014/main" id="{A88840E9-ADF2-4E79-83E4-1ABB89549593}"/>
              </a:ext>
            </a:extLst>
          </p:cNvPr>
          <p:cNvSpPr>
            <a:spLocks noGrp="1"/>
          </p:cNvSpPr>
          <p:nvPr/>
        </p:nvSpPr>
        <p:spPr>
          <a:xfrm>
            <a:off x="9105900" y="3067050"/>
            <a:ext cx="2381250" cy="800100"/>
          </a:xfrm>
          <a:prstGeom prst="rect">
            <a:avLst/>
          </a:prstGeom>
          <a:noFill/>
          <a:ln w="0">
            <a:noFill/>
          </a:ln>
        </p:spPr>
        <p:txBody>
          <a:bodyPr anchor="t">
            <a:normAutofit/>
          </a:bodyPr>
          <a:lstStyle/>
          <a:p>
            <a:pPr algn="l">
              <a:defRPr sz="1425" b="0">
                <a:solidFill>
                  <a:srgbClr val="1E2633"/>
                </a:solidFill>
                <a:latin typeface="Nimbus Sans"/>
                <a:ea typeface="Nimbus Sans"/>
                <a:cs typeface="Nimbus Sans"/>
              </a:defRPr>
            </a:pPr>
            <a:r>
              <a:rPr sz="1425" b="0">
                <a:solidFill>
                  <a:srgbClr val="1E2633"/>
                </a:solidFill>
                <a:latin typeface="Nimbus Sans"/>
                <a:ea typeface="Nimbus Sans"/>
                <a:cs typeface="Nimbus Sans"/>
              </a:rPr>
              <a:t>The five largest city groups contain 56.95% of all records.</a:t>
            </a:r>
          </a:p>
        </p:txBody>
      </p:sp>
      <p:sp>
        <p:nvSpPr>
          <p:cNvPr id="12" name="Rectangle 11">
            <a:extLst>
              <a:ext uri="{FF2B5EF4-FFF2-40B4-BE49-F238E27FC236}">
                <a16:creationId xmlns:a16="http://schemas.microsoft.com/office/drawing/2014/main" id="{96FCA746-840A-41A1-9135-7023D83B0E86}"/>
              </a:ext>
            </a:extLst>
          </p:cNvPr>
          <p:cNvSpPr>
            <a:spLocks noGrp="1"/>
          </p:cNvSpPr>
          <p:nvPr/>
        </p:nvSpPr>
        <p:spPr>
          <a:xfrm>
            <a:off x="9105900" y="4057650"/>
            <a:ext cx="2381250" cy="800100"/>
          </a:xfrm>
          <a:prstGeom prst="rect">
            <a:avLst/>
          </a:prstGeom>
          <a:noFill/>
          <a:ln w="0">
            <a:noFill/>
          </a:ln>
        </p:spPr>
        <p:txBody>
          <a:bodyPr anchor="t">
            <a:normAutofit/>
          </a:bodyPr>
          <a:lstStyle/>
          <a:p>
            <a:pPr algn="l">
              <a:defRPr sz="1425" b="0">
                <a:solidFill>
                  <a:srgbClr val="1E2633"/>
                </a:solidFill>
                <a:latin typeface="Nimbus Sans"/>
                <a:ea typeface="Nimbus Sans"/>
                <a:cs typeface="Nimbus Sans"/>
              </a:defRPr>
            </a:pPr>
            <a:r>
              <a:rPr sz="1425" b="0">
                <a:solidFill>
                  <a:srgbClr val="1E2633"/>
                </a:solidFill>
                <a:latin typeface="Nimbus Sans"/>
                <a:ea typeface="Nimbus Sans"/>
                <a:cs typeface="Nimbus Sans"/>
              </a:rPr>
              <a:t>Valencia, Bukidnon has 60 listings, or 0.48%.</a:t>
            </a:r>
          </a:p>
        </p:txBody>
      </p:sp>
    </p:spTree>
    <p:extLst>
      <p:ext uri="{BB962C8B-B14F-4D97-AF65-F5344CB8AC3E}">
        <p14:creationId xmlns:p14="http://schemas.microsoft.com/office/powerpoint/2010/main" val="1781621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67BDC9B-0D7D-4F36-80E1-217973AA6800}"/>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Food-type variety differs across the selected cities</a:t>
            </a:r>
          </a:p>
        </p:txBody>
      </p:sp>
      <p:sp>
        <p:nvSpPr>
          <p:cNvPr id="2" name="Rectangle 1">
            <a:extLst>
              <a:ext uri="{FF2B5EF4-FFF2-40B4-BE49-F238E27FC236}">
                <a16:creationId xmlns:a16="http://schemas.microsoft.com/office/drawing/2014/main" id="{8D11A729-AE00-43DE-9B26-418170376E96}"/>
              </a:ext>
            </a:extLst>
          </p:cNvPr>
          <p:cNvSpPr>
            <a:spLocks noGrp="1"/>
          </p:cNvSpPr>
          <p:nvPr/>
        </p:nvSpPr>
        <p:spPr>
          <a:xfrm>
            <a:off x="514350" y="838200"/>
            <a:ext cx="11125200" cy="266700"/>
          </a:xfrm>
          <a:prstGeom prst="rect">
            <a:avLst/>
          </a:prstGeom>
          <a:noFill/>
          <a:ln w="0">
            <a:noFill/>
          </a:ln>
        </p:spPr>
        <p:txBody>
          <a:bodyPr anchor="t">
            <a:normAutofit fontScale="97696" lnSpcReduction="10000"/>
          </a:bodyPr>
          <a:lstStyle/>
          <a:p>
            <a:pPr algn="l">
              <a:defRPr sz="1275" b="0">
                <a:solidFill>
                  <a:srgbClr val="606A78"/>
                </a:solidFill>
                <a:latin typeface="Nimbus Sans"/>
                <a:ea typeface="Nimbus Sans"/>
                <a:cs typeface="Nimbus Sans"/>
              </a:defRPr>
            </a:pPr>
            <a:r>
              <a:rPr sz="1275" b="0">
                <a:solidFill>
                  <a:srgbClr val="606A78"/>
                </a:solidFill>
                <a:latin typeface="Nimbus Sans"/>
                <a:ea typeface="Nimbus Sans"/>
                <a:cs typeface="Nimbus Sans"/>
              </a:rPr>
              <a:t>Specific Objective 2: unique known food types</a:t>
            </a:r>
          </a:p>
        </p:txBody>
      </p:sp>
      <p:sp>
        <p:nvSpPr>
          <p:cNvPr id="3" name="Rectangle 2">
            <a:extLst>
              <a:ext uri="{FF2B5EF4-FFF2-40B4-BE49-F238E27FC236}">
                <a16:creationId xmlns:a16="http://schemas.microsoft.com/office/drawing/2014/main" id="{1B5C7CD8-3417-425B-8920-F3B1CDB72FE0}"/>
              </a:ext>
            </a:extLst>
          </p:cNvPr>
          <p:cNvSpPr>
            <a:spLocks noGrp="1"/>
          </p:cNvSpPr>
          <p:nvPr/>
        </p:nvSpPr>
        <p:spPr>
          <a:xfrm>
            <a:off x="514350" y="1171575"/>
            <a:ext cx="11125200" cy="28575"/>
          </a:xfrm>
          <a:prstGeom prst="rect">
            <a:avLst/>
          </a:prstGeom>
          <a:solidFill>
            <a:srgbClr val="F3A321"/>
          </a:solidFill>
          <a:ln w="0">
            <a:noFill/>
          </a:ln>
        </p:spPr>
      </p:sp>
      <p:sp>
        <p:nvSpPr>
          <p:cNvPr id="5" name="Rectangle 4">
            <a:extLst>
              <a:ext uri="{FF2B5EF4-FFF2-40B4-BE49-F238E27FC236}">
                <a16:creationId xmlns:a16="http://schemas.microsoft.com/office/drawing/2014/main" id="{67419E71-1C0F-4D09-BA8F-2FFB38E5DEB5}"/>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6" name="Rectangle 5">
            <a:extLst>
              <a:ext uri="{FF2B5EF4-FFF2-40B4-BE49-F238E27FC236}">
                <a16:creationId xmlns:a16="http://schemas.microsoft.com/office/drawing/2014/main" id="{6585E97B-06C6-429C-84AB-B323C66FC6E3}"/>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7</a:t>
            </a:r>
          </a:p>
        </p:txBody>
      </p:sp>
      <p:pic>
        <p:nvPicPr>
          <p:cNvPr id="19" name="Picture 18"/>
          <p:cNvPicPr>
            <a:picLocks noChangeAspect="1"/>
          </p:cNvPicPr>
          <p:nvPr/>
        </p:nvPicPr>
        <p:blipFill>
          <a:blip r:embed="rId3"/>
          <a:stretch/>
        </p:blipFill>
        <p:spPr>
          <a:xfrm>
            <a:off x="1387801" y="1295400"/>
            <a:ext cx="6168373" cy="4905375"/>
          </a:xfrm>
          <a:prstGeom prst="rect">
            <a:avLst/>
          </a:prstGeom>
        </p:spPr>
      </p:pic>
      <p:sp>
        <p:nvSpPr>
          <p:cNvPr id="8" name="Rectangle 7">
            <a:extLst>
              <a:ext uri="{FF2B5EF4-FFF2-40B4-BE49-F238E27FC236}">
                <a16:creationId xmlns:a16="http://schemas.microsoft.com/office/drawing/2014/main" id="{1ABB9A0C-291A-42C2-9A0E-027A8C3EA13B}"/>
              </a:ext>
            </a:extLst>
          </p:cNvPr>
          <p:cNvSpPr>
            <a:spLocks noGrp="1"/>
          </p:cNvSpPr>
          <p:nvPr/>
        </p:nvSpPr>
        <p:spPr>
          <a:xfrm>
            <a:off x="8782050" y="1428750"/>
            <a:ext cx="57150" cy="4191000"/>
          </a:xfrm>
          <a:prstGeom prst="rect">
            <a:avLst/>
          </a:prstGeom>
          <a:solidFill>
            <a:srgbClr val="147B64"/>
          </a:solidFill>
          <a:ln w="0">
            <a:noFill/>
          </a:ln>
        </p:spPr>
      </p:sp>
      <p:sp>
        <p:nvSpPr>
          <p:cNvPr id="9" name="Rectangle 8">
            <a:extLst>
              <a:ext uri="{FF2B5EF4-FFF2-40B4-BE49-F238E27FC236}">
                <a16:creationId xmlns:a16="http://schemas.microsoft.com/office/drawing/2014/main" id="{118F5FD2-601B-4508-9516-7C9FA0029327}"/>
              </a:ext>
            </a:extLst>
          </p:cNvPr>
          <p:cNvSpPr>
            <a:spLocks noGrp="1"/>
          </p:cNvSpPr>
          <p:nvPr/>
        </p:nvSpPr>
        <p:spPr>
          <a:xfrm>
            <a:off x="9105900" y="1485900"/>
            <a:ext cx="2381250" cy="361950"/>
          </a:xfrm>
          <a:prstGeom prst="rect">
            <a:avLst/>
          </a:prstGeom>
          <a:noFill/>
          <a:ln w="0">
            <a:noFill/>
          </a:ln>
        </p:spPr>
        <p:txBody>
          <a:bodyPr anchor="t">
            <a:normAutofit/>
          </a:bodyPr>
          <a:lstStyle/>
          <a:p>
            <a:pPr algn="l">
              <a:defRPr sz="1650" b="1">
                <a:solidFill>
                  <a:srgbClr val="147B64"/>
                </a:solidFill>
                <a:latin typeface="Nimbus Sans"/>
                <a:ea typeface="Nimbus Sans"/>
                <a:cs typeface="Nimbus Sans"/>
              </a:defRPr>
            </a:pPr>
            <a:r>
              <a:rPr sz="1650" b="1">
                <a:solidFill>
                  <a:srgbClr val="147B64"/>
                </a:solidFill>
                <a:latin typeface="Nimbus Sans"/>
                <a:ea typeface="Nimbus Sans"/>
                <a:cs typeface="Nimbus Sans"/>
              </a:rPr>
              <a:t>What the chart shows</a:t>
            </a:r>
          </a:p>
        </p:txBody>
      </p:sp>
      <p:sp>
        <p:nvSpPr>
          <p:cNvPr id="10" name="Rectangle 9">
            <a:extLst>
              <a:ext uri="{FF2B5EF4-FFF2-40B4-BE49-F238E27FC236}">
                <a16:creationId xmlns:a16="http://schemas.microsoft.com/office/drawing/2014/main" id="{41B506E8-13F2-4671-BF0D-51F9165E5E53}"/>
              </a:ext>
            </a:extLst>
          </p:cNvPr>
          <p:cNvSpPr>
            <a:spLocks noGrp="1"/>
          </p:cNvSpPr>
          <p:nvPr/>
        </p:nvSpPr>
        <p:spPr>
          <a:xfrm>
            <a:off x="9105900" y="2076450"/>
            <a:ext cx="2381250" cy="800100"/>
          </a:xfrm>
          <a:prstGeom prst="rect">
            <a:avLst/>
          </a:prstGeom>
          <a:noFill/>
          <a:ln w="0">
            <a:noFill/>
          </a:ln>
        </p:spPr>
        <p:txBody>
          <a:bodyPr anchor="t">
            <a:normAutofit/>
          </a:bodyPr>
          <a:lstStyle/>
          <a:p>
            <a:pPr algn="l">
              <a:defRPr sz="1425" b="0">
                <a:solidFill>
                  <a:srgbClr val="1E2633"/>
                </a:solidFill>
                <a:latin typeface="Nimbus Sans"/>
                <a:ea typeface="Nimbus Sans"/>
                <a:cs typeface="Nimbus Sans"/>
              </a:defRPr>
            </a:pPr>
            <a:r>
              <a:rPr sz="1425" b="0">
                <a:solidFill>
                  <a:srgbClr val="1E2633"/>
                </a:solidFill>
                <a:latin typeface="Nimbus Sans"/>
                <a:ea typeface="Nimbus Sans"/>
                <a:cs typeface="Nimbus Sans"/>
              </a:rPr>
              <a:t>Quezon City records 63 known food types.</a:t>
            </a:r>
          </a:p>
        </p:txBody>
      </p:sp>
      <p:sp>
        <p:nvSpPr>
          <p:cNvPr id="11" name="Rectangle 10">
            <a:extLst>
              <a:ext uri="{FF2B5EF4-FFF2-40B4-BE49-F238E27FC236}">
                <a16:creationId xmlns:a16="http://schemas.microsoft.com/office/drawing/2014/main" id="{F6F99AAC-A3E7-4904-AD31-6BA2EC297DC6}"/>
              </a:ext>
            </a:extLst>
          </p:cNvPr>
          <p:cNvSpPr>
            <a:spLocks noGrp="1"/>
          </p:cNvSpPr>
          <p:nvPr/>
        </p:nvSpPr>
        <p:spPr>
          <a:xfrm>
            <a:off x="9105900" y="3067050"/>
            <a:ext cx="2381250" cy="800100"/>
          </a:xfrm>
          <a:prstGeom prst="rect">
            <a:avLst/>
          </a:prstGeom>
          <a:noFill/>
          <a:ln w="0">
            <a:noFill/>
          </a:ln>
        </p:spPr>
        <p:txBody>
          <a:bodyPr anchor="t">
            <a:normAutofit/>
          </a:bodyPr>
          <a:lstStyle/>
          <a:p>
            <a:pPr algn="l">
              <a:defRPr sz="1425" b="0">
                <a:solidFill>
                  <a:srgbClr val="1E2633"/>
                </a:solidFill>
                <a:latin typeface="Nimbus Sans"/>
                <a:ea typeface="Nimbus Sans"/>
                <a:cs typeface="Nimbus Sans"/>
              </a:defRPr>
            </a:pPr>
            <a:r>
              <a:rPr sz="1425" b="0">
                <a:solidFill>
                  <a:srgbClr val="1E2633"/>
                </a:solidFill>
                <a:latin typeface="Nimbus Sans"/>
                <a:ea typeface="Nimbus Sans"/>
                <a:cs typeface="Nimbus Sans"/>
              </a:rPr>
              <a:t>Davao City and Manila each record 62.</a:t>
            </a:r>
          </a:p>
        </p:txBody>
      </p:sp>
      <p:sp>
        <p:nvSpPr>
          <p:cNvPr id="12" name="Rectangle 11">
            <a:extLst>
              <a:ext uri="{FF2B5EF4-FFF2-40B4-BE49-F238E27FC236}">
                <a16:creationId xmlns:a16="http://schemas.microsoft.com/office/drawing/2014/main" id="{82984BD5-C7FB-4104-9BF4-054686473893}"/>
              </a:ext>
            </a:extLst>
          </p:cNvPr>
          <p:cNvSpPr>
            <a:spLocks noGrp="1"/>
          </p:cNvSpPr>
          <p:nvPr/>
        </p:nvSpPr>
        <p:spPr>
          <a:xfrm>
            <a:off x="9105900" y="4057650"/>
            <a:ext cx="2381250" cy="800100"/>
          </a:xfrm>
          <a:prstGeom prst="rect">
            <a:avLst/>
          </a:prstGeom>
          <a:noFill/>
          <a:ln w="0">
            <a:noFill/>
          </a:ln>
        </p:spPr>
        <p:txBody>
          <a:bodyPr anchor="t">
            <a:normAutofit/>
          </a:bodyPr>
          <a:lstStyle/>
          <a:p>
            <a:pPr algn="l">
              <a:defRPr sz="1425" b="0">
                <a:solidFill>
                  <a:srgbClr val="1E2633"/>
                </a:solidFill>
                <a:latin typeface="Nimbus Sans"/>
                <a:ea typeface="Nimbus Sans"/>
                <a:cs typeface="Nimbus Sans"/>
              </a:defRPr>
            </a:pPr>
            <a:r>
              <a:rPr sz="1425" b="0">
                <a:solidFill>
                  <a:srgbClr val="1E2633"/>
                </a:solidFill>
                <a:latin typeface="Nimbus Sans"/>
                <a:ea typeface="Nimbus Sans"/>
                <a:cs typeface="Nimbus Sans"/>
              </a:rPr>
              <a:t>Valencia records 26. Its smaller listing count limits the variety captured.</a:t>
            </a:r>
          </a:p>
        </p:txBody>
      </p:sp>
    </p:spTree>
    <p:extLst>
      <p:ext uri="{BB962C8B-B14F-4D97-AF65-F5344CB8AC3E}">
        <p14:creationId xmlns:p14="http://schemas.microsoft.com/office/powerpoint/2010/main" val="822791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996D1FD-BE48-4C1B-9413-ED070CE7335D}"/>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Filipino food is the most represented category</a:t>
            </a:r>
          </a:p>
        </p:txBody>
      </p:sp>
      <p:sp>
        <p:nvSpPr>
          <p:cNvPr id="2" name="Rectangle 1">
            <a:extLst>
              <a:ext uri="{FF2B5EF4-FFF2-40B4-BE49-F238E27FC236}">
                <a16:creationId xmlns:a16="http://schemas.microsoft.com/office/drawing/2014/main" id="{6AE8D833-96EF-4158-BB11-D5A446D01A12}"/>
              </a:ext>
            </a:extLst>
          </p:cNvPr>
          <p:cNvSpPr>
            <a:spLocks noGrp="1"/>
          </p:cNvSpPr>
          <p:nvPr/>
        </p:nvSpPr>
        <p:spPr>
          <a:xfrm>
            <a:off x="514350" y="838200"/>
            <a:ext cx="11125200" cy="266700"/>
          </a:xfrm>
          <a:prstGeom prst="rect">
            <a:avLst/>
          </a:prstGeom>
          <a:noFill/>
          <a:ln w="0">
            <a:noFill/>
          </a:ln>
        </p:spPr>
        <p:txBody>
          <a:bodyPr anchor="t">
            <a:normAutofit fontScale="97696" lnSpcReduction="10000"/>
          </a:bodyPr>
          <a:lstStyle/>
          <a:p>
            <a:pPr algn="l">
              <a:defRPr sz="1275" b="0">
                <a:solidFill>
                  <a:srgbClr val="606A78"/>
                </a:solidFill>
                <a:latin typeface="Nimbus Sans"/>
                <a:ea typeface="Nimbus Sans"/>
                <a:cs typeface="Nimbus Sans"/>
              </a:defRPr>
            </a:pPr>
            <a:r>
              <a:rPr sz="1275" b="0">
                <a:solidFill>
                  <a:srgbClr val="606A78"/>
                </a:solidFill>
                <a:latin typeface="Nimbus Sans"/>
                <a:ea typeface="Nimbus Sans"/>
                <a:cs typeface="Nimbus Sans"/>
              </a:rPr>
              <a:t>Specific Objectives 2 and 4: category representation</a:t>
            </a:r>
          </a:p>
        </p:txBody>
      </p:sp>
      <p:sp>
        <p:nvSpPr>
          <p:cNvPr id="3" name="Rectangle 2">
            <a:extLst>
              <a:ext uri="{FF2B5EF4-FFF2-40B4-BE49-F238E27FC236}">
                <a16:creationId xmlns:a16="http://schemas.microsoft.com/office/drawing/2014/main" id="{613957F3-BAFC-4B46-AF60-1017C74F12A5}"/>
              </a:ext>
            </a:extLst>
          </p:cNvPr>
          <p:cNvSpPr>
            <a:spLocks noGrp="1"/>
          </p:cNvSpPr>
          <p:nvPr/>
        </p:nvSpPr>
        <p:spPr>
          <a:xfrm>
            <a:off x="514350" y="1171575"/>
            <a:ext cx="11125200" cy="28575"/>
          </a:xfrm>
          <a:prstGeom prst="rect">
            <a:avLst/>
          </a:prstGeom>
          <a:solidFill>
            <a:srgbClr val="F3A321"/>
          </a:solidFill>
          <a:ln w="0">
            <a:noFill/>
          </a:ln>
        </p:spPr>
      </p:sp>
      <p:sp>
        <p:nvSpPr>
          <p:cNvPr id="5" name="Rectangle 4">
            <a:extLst>
              <a:ext uri="{FF2B5EF4-FFF2-40B4-BE49-F238E27FC236}">
                <a16:creationId xmlns:a16="http://schemas.microsoft.com/office/drawing/2014/main" id="{23556EAC-C12B-451F-A49D-C949713718B7}"/>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6" name="Rectangle 5">
            <a:extLst>
              <a:ext uri="{FF2B5EF4-FFF2-40B4-BE49-F238E27FC236}">
                <a16:creationId xmlns:a16="http://schemas.microsoft.com/office/drawing/2014/main" id="{A6CCC719-B8D0-4296-9EAA-9C406A64A86E}"/>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8</a:t>
            </a:r>
          </a:p>
        </p:txBody>
      </p:sp>
      <p:pic>
        <p:nvPicPr>
          <p:cNvPr id="19" name="Picture 18"/>
          <p:cNvPicPr>
            <a:picLocks noChangeAspect="1"/>
          </p:cNvPicPr>
          <p:nvPr/>
        </p:nvPicPr>
        <p:blipFill>
          <a:blip r:embed="rId3"/>
          <a:stretch/>
        </p:blipFill>
        <p:spPr>
          <a:xfrm>
            <a:off x="934688" y="1295400"/>
            <a:ext cx="7074598" cy="4905375"/>
          </a:xfrm>
          <a:prstGeom prst="rect">
            <a:avLst/>
          </a:prstGeom>
        </p:spPr>
      </p:pic>
      <p:sp>
        <p:nvSpPr>
          <p:cNvPr id="8" name="Rectangle 7">
            <a:extLst>
              <a:ext uri="{FF2B5EF4-FFF2-40B4-BE49-F238E27FC236}">
                <a16:creationId xmlns:a16="http://schemas.microsoft.com/office/drawing/2014/main" id="{AB2740BF-00AD-4F44-8835-D05EC7FC780F}"/>
              </a:ext>
            </a:extLst>
          </p:cNvPr>
          <p:cNvSpPr>
            <a:spLocks noGrp="1"/>
          </p:cNvSpPr>
          <p:nvPr/>
        </p:nvSpPr>
        <p:spPr>
          <a:xfrm>
            <a:off x="8782050" y="1428750"/>
            <a:ext cx="57150" cy="4191000"/>
          </a:xfrm>
          <a:prstGeom prst="rect">
            <a:avLst/>
          </a:prstGeom>
          <a:solidFill>
            <a:srgbClr val="F3A321"/>
          </a:solidFill>
          <a:ln w="0">
            <a:noFill/>
          </a:ln>
        </p:spPr>
      </p:sp>
      <p:sp>
        <p:nvSpPr>
          <p:cNvPr id="9" name="Rectangle 8">
            <a:extLst>
              <a:ext uri="{FF2B5EF4-FFF2-40B4-BE49-F238E27FC236}">
                <a16:creationId xmlns:a16="http://schemas.microsoft.com/office/drawing/2014/main" id="{CDBD73D2-1FD0-4517-9399-84078976FDDC}"/>
              </a:ext>
            </a:extLst>
          </p:cNvPr>
          <p:cNvSpPr>
            <a:spLocks noGrp="1"/>
          </p:cNvSpPr>
          <p:nvPr/>
        </p:nvSpPr>
        <p:spPr>
          <a:xfrm>
            <a:off x="9105900" y="1485900"/>
            <a:ext cx="2381250" cy="361950"/>
          </a:xfrm>
          <a:prstGeom prst="rect">
            <a:avLst/>
          </a:prstGeom>
          <a:noFill/>
          <a:ln w="0">
            <a:noFill/>
          </a:ln>
        </p:spPr>
        <p:txBody>
          <a:bodyPr anchor="t">
            <a:normAutofit/>
          </a:bodyPr>
          <a:lstStyle/>
          <a:p>
            <a:pPr algn="l">
              <a:defRPr sz="1650" b="1">
                <a:solidFill>
                  <a:srgbClr val="F3A321"/>
                </a:solidFill>
                <a:latin typeface="Nimbus Sans"/>
                <a:ea typeface="Nimbus Sans"/>
                <a:cs typeface="Nimbus Sans"/>
              </a:defRPr>
            </a:pPr>
            <a:r>
              <a:rPr sz="1650" b="1">
                <a:solidFill>
                  <a:srgbClr val="F3A321"/>
                </a:solidFill>
                <a:latin typeface="Nimbus Sans"/>
                <a:ea typeface="Nimbus Sans"/>
                <a:cs typeface="Nimbus Sans"/>
              </a:rPr>
              <a:t>Leading categories</a:t>
            </a:r>
          </a:p>
        </p:txBody>
      </p:sp>
      <p:sp>
        <p:nvSpPr>
          <p:cNvPr id="10" name="Rectangle 9">
            <a:extLst>
              <a:ext uri="{FF2B5EF4-FFF2-40B4-BE49-F238E27FC236}">
                <a16:creationId xmlns:a16="http://schemas.microsoft.com/office/drawing/2014/main" id="{C76EEBE1-38BE-46F0-AE61-BF3BEA274876}"/>
              </a:ext>
            </a:extLst>
          </p:cNvPr>
          <p:cNvSpPr>
            <a:spLocks noGrp="1"/>
          </p:cNvSpPr>
          <p:nvPr/>
        </p:nvSpPr>
        <p:spPr>
          <a:xfrm>
            <a:off x="9105900" y="2076450"/>
            <a:ext cx="2381250" cy="800100"/>
          </a:xfrm>
          <a:prstGeom prst="rect">
            <a:avLst/>
          </a:prstGeom>
          <a:noFill/>
          <a:ln w="0">
            <a:noFill/>
          </a:ln>
        </p:spPr>
        <p:txBody>
          <a:bodyPr anchor="t">
            <a:normAutofit/>
          </a:bodyPr>
          <a:lstStyle/>
          <a:p>
            <a:pPr algn="l">
              <a:defRPr sz="1425" b="0">
                <a:solidFill>
                  <a:srgbClr val="1E2633"/>
                </a:solidFill>
                <a:latin typeface="Nimbus Sans"/>
                <a:ea typeface="Nimbus Sans"/>
                <a:cs typeface="Nimbus Sans"/>
              </a:defRPr>
            </a:pPr>
            <a:r>
              <a:rPr sz="1425" b="0">
                <a:solidFill>
                  <a:srgbClr val="1E2633"/>
                </a:solidFill>
                <a:latin typeface="Nimbus Sans"/>
                <a:ea typeface="Nimbus Sans"/>
                <a:cs typeface="Nimbus Sans"/>
              </a:rPr>
              <a:t>Filipino: 1,657 listings, or 13.45% of known-food records.</a:t>
            </a:r>
          </a:p>
        </p:txBody>
      </p:sp>
      <p:sp>
        <p:nvSpPr>
          <p:cNvPr id="11" name="Rectangle 10">
            <a:extLst>
              <a:ext uri="{FF2B5EF4-FFF2-40B4-BE49-F238E27FC236}">
                <a16:creationId xmlns:a16="http://schemas.microsoft.com/office/drawing/2014/main" id="{6D956994-B5EE-46EE-9CED-24183AB18381}"/>
              </a:ext>
            </a:extLst>
          </p:cNvPr>
          <p:cNvSpPr>
            <a:spLocks noGrp="1"/>
          </p:cNvSpPr>
          <p:nvPr/>
        </p:nvSpPr>
        <p:spPr>
          <a:xfrm>
            <a:off x="9105900" y="3067050"/>
            <a:ext cx="2381250" cy="800100"/>
          </a:xfrm>
          <a:prstGeom prst="rect">
            <a:avLst/>
          </a:prstGeom>
          <a:noFill/>
          <a:ln w="0">
            <a:noFill/>
          </a:ln>
        </p:spPr>
        <p:txBody>
          <a:bodyPr anchor="t">
            <a:normAutofit/>
          </a:bodyPr>
          <a:lstStyle/>
          <a:p>
            <a:pPr algn="l">
              <a:defRPr sz="1425" b="0">
                <a:solidFill>
                  <a:srgbClr val="1E2633"/>
                </a:solidFill>
                <a:latin typeface="Nimbus Sans"/>
                <a:ea typeface="Nimbus Sans"/>
                <a:cs typeface="Nimbus Sans"/>
              </a:defRPr>
            </a:pPr>
            <a:r>
              <a:rPr sz="1425" b="0">
                <a:solidFill>
                  <a:srgbClr val="1E2633"/>
                </a:solidFill>
                <a:latin typeface="Nimbus Sans"/>
                <a:ea typeface="Nimbus Sans"/>
                <a:cs typeface="Nimbus Sans"/>
              </a:rPr>
              <a:t>Coffee: 992 listings, or 8.05%.</a:t>
            </a:r>
          </a:p>
        </p:txBody>
      </p:sp>
      <p:sp>
        <p:nvSpPr>
          <p:cNvPr id="12" name="Rectangle 11">
            <a:extLst>
              <a:ext uri="{FF2B5EF4-FFF2-40B4-BE49-F238E27FC236}">
                <a16:creationId xmlns:a16="http://schemas.microsoft.com/office/drawing/2014/main" id="{71CBBD1B-F30B-45DC-9D45-F8D324C98C0F}"/>
              </a:ext>
            </a:extLst>
          </p:cNvPr>
          <p:cNvSpPr>
            <a:spLocks noGrp="1"/>
          </p:cNvSpPr>
          <p:nvPr/>
        </p:nvSpPr>
        <p:spPr>
          <a:xfrm>
            <a:off x="9105900" y="4057650"/>
            <a:ext cx="2381250" cy="800100"/>
          </a:xfrm>
          <a:prstGeom prst="rect">
            <a:avLst/>
          </a:prstGeom>
          <a:noFill/>
          <a:ln w="0">
            <a:noFill/>
          </a:ln>
        </p:spPr>
        <p:txBody>
          <a:bodyPr anchor="t">
            <a:normAutofit/>
          </a:bodyPr>
          <a:lstStyle/>
          <a:p>
            <a:pPr algn="l">
              <a:defRPr sz="1425" b="0">
                <a:solidFill>
                  <a:srgbClr val="1E2633"/>
                </a:solidFill>
                <a:latin typeface="Nimbus Sans"/>
                <a:ea typeface="Nimbus Sans"/>
                <a:cs typeface="Nimbus Sans"/>
              </a:defRPr>
            </a:pPr>
            <a:r>
              <a:rPr sz="1425" b="0">
                <a:solidFill>
                  <a:srgbClr val="1E2633"/>
                </a:solidFill>
                <a:latin typeface="Nimbus Sans"/>
                <a:ea typeface="Nimbus Sans"/>
                <a:cs typeface="Nimbus Sans"/>
              </a:rPr>
              <a:t>Milk Tea: 791 listings, or 6.42%.</a:t>
            </a:r>
          </a:p>
        </p:txBody>
      </p:sp>
    </p:spTree>
    <p:extLst>
      <p:ext uri="{BB962C8B-B14F-4D97-AF65-F5344CB8AC3E}">
        <p14:creationId xmlns:p14="http://schemas.microsoft.com/office/powerpoint/2010/main" val="1124288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A7F4B09-7A02-46AA-9D8F-49D9597B768A}"/>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Reviewer activity varies more than average ratings</a:t>
            </a:r>
          </a:p>
        </p:txBody>
      </p:sp>
      <p:sp>
        <p:nvSpPr>
          <p:cNvPr id="2" name="Rectangle 1">
            <a:extLst>
              <a:ext uri="{FF2B5EF4-FFF2-40B4-BE49-F238E27FC236}">
                <a16:creationId xmlns:a16="http://schemas.microsoft.com/office/drawing/2014/main" id="{E659BF12-7B25-4F79-A031-E8C3C55BBFAB}"/>
              </a:ext>
            </a:extLst>
          </p:cNvPr>
          <p:cNvSpPr>
            <a:spLocks noGrp="1"/>
          </p:cNvSpPr>
          <p:nvPr/>
        </p:nvSpPr>
        <p:spPr>
          <a:xfrm>
            <a:off x="514350" y="838200"/>
            <a:ext cx="11125200" cy="266700"/>
          </a:xfrm>
          <a:prstGeom prst="rect">
            <a:avLst/>
          </a:prstGeom>
          <a:noFill/>
          <a:ln w="0">
            <a:noFill/>
          </a:ln>
        </p:spPr>
        <p:txBody>
          <a:bodyPr anchor="t">
            <a:normAutofit fontScale="97696" lnSpcReduction="10000"/>
          </a:bodyPr>
          <a:lstStyle/>
          <a:p>
            <a:pPr algn="l">
              <a:defRPr sz="1275" b="0">
                <a:solidFill>
                  <a:srgbClr val="606A78"/>
                </a:solidFill>
                <a:latin typeface="Nimbus Sans"/>
                <a:ea typeface="Nimbus Sans"/>
                <a:cs typeface="Nimbus Sans"/>
              </a:defRPr>
            </a:pPr>
            <a:r>
              <a:rPr sz="1275" b="0">
                <a:solidFill>
                  <a:srgbClr val="606A78"/>
                </a:solidFill>
                <a:latin typeface="Nimbus Sans"/>
                <a:ea typeface="Nimbus Sans"/>
                <a:cs typeface="Nimbus Sans"/>
              </a:rPr>
              <a:t>Specific Objective 3: engagement and feedback among rated listings</a:t>
            </a:r>
          </a:p>
        </p:txBody>
      </p:sp>
      <p:sp>
        <p:nvSpPr>
          <p:cNvPr id="3" name="Rectangle 2">
            <a:extLst>
              <a:ext uri="{FF2B5EF4-FFF2-40B4-BE49-F238E27FC236}">
                <a16:creationId xmlns:a16="http://schemas.microsoft.com/office/drawing/2014/main" id="{BC914DEF-CDD1-4786-9E22-98977D6DD984}"/>
              </a:ext>
            </a:extLst>
          </p:cNvPr>
          <p:cNvSpPr>
            <a:spLocks noGrp="1"/>
          </p:cNvSpPr>
          <p:nvPr/>
        </p:nvSpPr>
        <p:spPr>
          <a:xfrm>
            <a:off x="514350" y="1171575"/>
            <a:ext cx="11125200" cy="28575"/>
          </a:xfrm>
          <a:prstGeom prst="rect">
            <a:avLst/>
          </a:prstGeom>
          <a:solidFill>
            <a:srgbClr val="F3A321"/>
          </a:solidFill>
          <a:ln w="0">
            <a:noFill/>
          </a:ln>
        </p:spPr>
      </p:sp>
      <p:sp>
        <p:nvSpPr>
          <p:cNvPr id="5" name="Rectangle 4">
            <a:extLst>
              <a:ext uri="{FF2B5EF4-FFF2-40B4-BE49-F238E27FC236}">
                <a16:creationId xmlns:a16="http://schemas.microsoft.com/office/drawing/2014/main" id="{74F61241-A3CC-4147-B1C1-7480BF4AA17D}"/>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6" name="Rectangle 5">
            <a:extLst>
              <a:ext uri="{FF2B5EF4-FFF2-40B4-BE49-F238E27FC236}">
                <a16:creationId xmlns:a16="http://schemas.microsoft.com/office/drawing/2014/main" id="{2B73EA45-17F8-4AC2-84C7-E682D1765497}"/>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9</a:t>
            </a:r>
          </a:p>
        </p:txBody>
      </p:sp>
      <p:pic>
        <p:nvPicPr>
          <p:cNvPr id="17" name="Picture 16"/>
          <p:cNvPicPr>
            <a:picLocks noChangeAspect="1"/>
          </p:cNvPicPr>
          <p:nvPr/>
        </p:nvPicPr>
        <p:blipFill>
          <a:blip r:embed="rId3"/>
          <a:stretch/>
        </p:blipFill>
        <p:spPr>
          <a:xfrm>
            <a:off x="342900" y="1545002"/>
            <a:ext cx="8620125" cy="4272821"/>
          </a:xfrm>
          <a:prstGeom prst="rect">
            <a:avLst/>
          </a:prstGeom>
        </p:spPr>
      </p:pic>
      <p:sp>
        <p:nvSpPr>
          <p:cNvPr id="8" name="Rectangle 7">
            <a:extLst>
              <a:ext uri="{FF2B5EF4-FFF2-40B4-BE49-F238E27FC236}">
                <a16:creationId xmlns:a16="http://schemas.microsoft.com/office/drawing/2014/main" id="{8631AA00-4466-404F-95F0-3BE895578208}"/>
              </a:ext>
            </a:extLst>
          </p:cNvPr>
          <p:cNvSpPr>
            <a:spLocks noGrp="1"/>
          </p:cNvSpPr>
          <p:nvPr/>
        </p:nvSpPr>
        <p:spPr>
          <a:xfrm>
            <a:off x="9182100" y="1428750"/>
            <a:ext cx="47625" cy="4095750"/>
          </a:xfrm>
          <a:prstGeom prst="rect">
            <a:avLst/>
          </a:prstGeom>
          <a:solidFill>
            <a:srgbClr val="6547A5"/>
          </a:solidFill>
          <a:ln w="0">
            <a:noFill/>
          </a:ln>
        </p:spPr>
      </p:sp>
      <p:sp>
        <p:nvSpPr>
          <p:cNvPr id="9" name="Rectangle 8">
            <a:extLst>
              <a:ext uri="{FF2B5EF4-FFF2-40B4-BE49-F238E27FC236}">
                <a16:creationId xmlns:a16="http://schemas.microsoft.com/office/drawing/2014/main" id="{3028DB8D-2487-4975-B2FF-6A0917A4709B}"/>
              </a:ext>
            </a:extLst>
          </p:cNvPr>
          <p:cNvSpPr>
            <a:spLocks noGrp="1"/>
          </p:cNvSpPr>
          <p:nvPr/>
        </p:nvSpPr>
        <p:spPr>
          <a:xfrm>
            <a:off x="9467850" y="1504950"/>
            <a:ext cx="2190750" cy="361950"/>
          </a:xfrm>
          <a:prstGeom prst="rect">
            <a:avLst/>
          </a:prstGeom>
          <a:noFill/>
          <a:ln w="0">
            <a:noFill/>
          </a:ln>
        </p:spPr>
        <p:txBody>
          <a:bodyPr anchor="t">
            <a:normAutofit/>
          </a:bodyPr>
          <a:lstStyle/>
          <a:p>
            <a:pPr algn="l">
              <a:defRPr sz="1650" b="1">
                <a:solidFill>
                  <a:srgbClr val="6547A5"/>
                </a:solidFill>
                <a:latin typeface="Nimbus Sans"/>
                <a:ea typeface="Nimbus Sans"/>
                <a:cs typeface="Nimbus Sans"/>
              </a:defRPr>
            </a:pPr>
            <a:r>
              <a:rPr sz="1650" b="1">
                <a:solidFill>
                  <a:srgbClr val="6547A5"/>
                </a:solidFill>
                <a:latin typeface="Nimbus Sans"/>
                <a:ea typeface="Nimbus Sans"/>
                <a:cs typeface="Nimbus Sans"/>
              </a:rPr>
              <a:t>How to read it</a:t>
            </a:r>
          </a:p>
        </p:txBody>
      </p:sp>
      <p:sp>
        <p:nvSpPr>
          <p:cNvPr id="10" name="Rectangle 9">
            <a:extLst>
              <a:ext uri="{FF2B5EF4-FFF2-40B4-BE49-F238E27FC236}">
                <a16:creationId xmlns:a16="http://schemas.microsoft.com/office/drawing/2014/main" id="{37149A88-DB4C-4C49-9565-E83CF0FFB944}"/>
              </a:ext>
            </a:extLst>
          </p:cNvPr>
          <p:cNvSpPr>
            <a:spLocks noGrp="1"/>
          </p:cNvSpPr>
          <p:nvPr/>
        </p:nvSpPr>
        <p:spPr>
          <a:xfrm>
            <a:off x="9467850" y="2114550"/>
            <a:ext cx="2190750" cy="314325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Median reviewer counts range from 137 to 300.</a:t>
            </a:r>
          </a:p>
          <a:p>
            <a:endParaRPr sz="1350" b="0">
              <a:solidFill>
                <a:srgbClr val="1E2633"/>
              </a:solidFill>
              <a:latin typeface="Nimbus Sans"/>
              <a:ea typeface="Nimbus Sans"/>
              <a:cs typeface="Nimbus Sans"/>
            </a:endParaRPr>
          </a:p>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City mean ratings remain between 4.87 and 4.96 out of 5.</a:t>
            </a:r>
          </a:p>
          <a:p>
            <a:endParaRPr sz="1350" b="0">
              <a:solidFill>
                <a:srgbClr val="1E2633"/>
              </a:solidFill>
              <a:latin typeface="Nimbus Sans"/>
              <a:ea typeface="Nimbus Sans"/>
              <a:cs typeface="Nimbus Sans"/>
            </a:endParaRPr>
          </a:p>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The median represents the typical middle listing and reduces the influence of extreme reviewer counts.</a:t>
            </a:r>
          </a:p>
        </p:txBody>
      </p:sp>
    </p:spTree>
    <p:extLst>
      <p:ext uri="{BB962C8B-B14F-4D97-AF65-F5344CB8AC3E}">
        <p14:creationId xmlns:p14="http://schemas.microsoft.com/office/powerpoint/2010/main" val="1091991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F45623A-EA95-4C7B-B6AA-5A39E8F51975}"/>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Diversity does not clearly predict typical reviewer activity</a:t>
            </a:r>
          </a:p>
        </p:txBody>
      </p:sp>
      <p:sp>
        <p:nvSpPr>
          <p:cNvPr id="2" name="Rectangle 1">
            <a:extLst>
              <a:ext uri="{FF2B5EF4-FFF2-40B4-BE49-F238E27FC236}">
                <a16:creationId xmlns:a16="http://schemas.microsoft.com/office/drawing/2014/main" id="{885AA1C8-2196-47BA-97ED-F725778B28E7}"/>
              </a:ext>
            </a:extLst>
          </p:cNvPr>
          <p:cNvSpPr>
            <a:spLocks noGrp="1"/>
          </p:cNvSpPr>
          <p:nvPr/>
        </p:nvSpPr>
        <p:spPr>
          <a:xfrm>
            <a:off x="514350" y="838200"/>
            <a:ext cx="11125200" cy="266700"/>
          </a:xfrm>
          <a:prstGeom prst="rect">
            <a:avLst/>
          </a:prstGeom>
          <a:noFill/>
          <a:ln w="0">
            <a:noFill/>
          </a:ln>
        </p:spPr>
        <p:txBody>
          <a:bodyPr anchor="t">
            <a:normAutofit fontScale="97696" lnSpcReduction="10000"/>
          </a:bodyPr>
          <a:lstStyle/>
          <a:p>
            <a:pPr algn="l">
              <a:defRPr sz="1275" b="0">
                <a:solidFill>
                  <a:srgbClr val="606A78"/>
                </a:solidFill>
                <a:latin typeface="Nimbus Sans"/>
                <a:ea typeface="Nimbus Sans"/>
                <a:cs typeface="Nimbus Sans"/>
              </a:defRPr>
            </a:pPr>
            <a:r>
              <a:rPr sz="1275" b="0">
                <a:solidFill>
                  <a:srgbClr val="606A78"/>
                </a:solidFill>
                <a:latin typeface="Nimbus Sans"/>
                <a:ea typeface="Nimbus Sans"/>
                <a:cs typeface="Nimbus Sans"/>
              </a:rPr>
              <a:t>Specific Objective 5: Spearman correlation</a:t>
            </a:r>
          </a:p>
        </p:txBody>
      </p:sp>
      <p:sp>
        <p:nvSpPr>
          <p:cNvPr id="3" name="Rectangle 2">
            <a:extLst>
              <a:ext uri="{FF2B5EF4-FFF2-40B4-BE49-F238E27FC236}">
                <a16:creationId xmlns:a16="http://schemas.microsoft.com/office/drawing/2014/main" id="{F311A0CA-216F-452A-8701-918217C1C928}"/>
              </a:ext>
            </a:extLst>
          </p:cNvPr>
          <p:cNvSpPr>
            <a:spLocks noGrp="1"/>
          </p:cNvSpPr>
          <p:nvPr/>
        </p:nvSpPr>
        <p:spPr>
          <a:xfrm>
            <a:off x="514350" y="1171575"/>
            <a:ext cx="11125200" cy="28575"/>
          </a:xfrm>
          <a:prstGeom prst="rect">
            <a:avLst/>
          </a:prstGeom>
          <a:solidFill>
            <a:srgbClr val="F3A321"/>
          </a:solidFill>
          <a:ln w="0">
            <a:noFill/>
          </a:ln>
        </p:spPr>
      </p:sp>
      <p:sp>
        <p:nvSpPr>
          <p:cNvPr id="5" name="Rectangle 4">
            <a:extLst>
              <a:ext uri="{FF2B5EF4-FFF2-40B4-BE49-F238E27FC236}">
                <a16:creationId xmlns:a16="http://schemas.microsoft.com/office/drawing/2014/main" id="{D4F269DE-8951-45B2-A211-89C6E886D03B}"/>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6" name="Rectangle 5">
            <a:extLst>
              <a:ext uri="{FF2B5EF4-FFF2-40B4-BE49-F238E27FC236}">
                <a16:creationId xmlns:a16="http://schemas.microsoft.com/office/drawing/2014/main" id="{D2121B27-97FC-4138-837C-F3CCD746A8A7}"/>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10</a:t>
            </a:r>
          </a:p>
        </p:txBody>
      </p:sp>
      <p:pic>
        <p:nvPicPr>
          <p:cNvPr id="26" name="Picture 25"/>
          <p:cNvPicPr>
            <a:picLocks noChangeAspect="1"/>
          </p:cNvPicPr>
          <p:nvPr/>
        </p:nvPicPr>
        <p:blipFill>
          <a:blip r:embed="rId3"/>
          <a:stretch/>
        </p:blipFill>
        <p:spPr>
          <a:xfrm>
            <a:off x="516818" y="1314450"/>
            <a:ext cx="6719714" cy="4857750"/>
          </a:xfrm>
          <a:prstGeom prst="rect">
            <a:avLst/>
          </a:prstGeom>
        </p:spPr>
      </p:pic>
      <p:sp>
        <p:nvSpPr>
          <p:cNvPr id="8" name="Rectangle 7">
            <a:extLst>
              <a:ext uri="{FF2B5EF4-FFF2-40B4-BE49-F238E27FC236}">
                <a16:creationId xmlns:a16="http://schemas.microsoft.com/office/drawing/2014/main" id="{87754B1E-575D-4693-BB20-E0E135A79301}"/>
              </a:ext>
            </a:extLst>
          </p:cNvPr>
          <p:cNvSpPr>
            <a:spLocks noGrp="1"/>
          </p:cNvSpPr>
          <p:nvPr/>
        </p:nvSpPr>
        <p:spPr>
          <a:xfrm>
            <a:off x="7734300" y="1409700"/>
            <a:ext cx="38100" cy="4191000"/>
          </a:xfrm>
          <a:prstGeom prst="rect">
            <a:avLst/>
          </a:prstGeom>
          <a:solidFill>
            <a:srgbClr val="F3A321"/>
          </a:solidFill>
          <a:ln w="0">
            <a:noFill/>
          </a:ln>
        </p:spPr>
      </p:sp>
      <p:sp>
        <p:nvSpPr>
          <p:cNvPr id="9" name="Rectangle 8">
            <a:extLst>
              <a:ext uri="{FF2B5EF4-FFF2-40B4-BE49-F238E27FC236}">
                <a16:creationId xmlns:a16="http://schemas.microsoft.com/office/drawing/2014/main" id="{036BC60D-05DC-403D-A387-343286DCCDD5}"/>
              </a:ext>
            </a:extLst>
          </p:cNvPr>
          <p:cNvSpPr>
            <a:spLocks noGrp="1"/>
          </p:cNvSpPr>
          <p:nvPr/>
        </p:nvSpPr>
        <p:spPr>
          <a:xfrm>
            <a:off x="8039100" y="1447800"/>
            <a:ext cx="3286125" cy="381000"/>
          </a:xfrm>
          <a:prstGeom prst="rect">
            <a:avLst/>
          </a:prstGeom>
          <a:noFill/>
          <a:ln w="0">
            <a:noFill/>
          </a:ln>
        </p:spPr>
        <p:txBody>
          <a:bodyPr anchor="t">
            <a:normAutofit/>
          </a:bodyPr>
          <a:lstStyle/>
          <a:p>
            <a:pPr algn="l">
              <a:defRPr sz="1650" b="1">
                <a:solidFill>
                  <a:srgbClr val="202A63"/>
                </a:solidFill>
                <a:latin typeface="Nimbus Sans"/>
                <a:ea typeface="Nimbus Sans"/>
                <a:cs typeface="Nimbus Sans"/>
              </a:defRPr>
            </a:pPr>
            <a:r>
              <a:rPr sz="1650" b="1">
                <a:solidFill>
                  <a:srgbClr val="202A63"/>
                </a:solidFill>
                <a:latin typeface="Nimbus Sans"/>
                <a:ea typeface="Nimbus Sans"/>
                <a:cs typeface="Nimbus Sans"/>
              </a:rPr>
              <a:t>Three relationship checks</a:t>
            </a:r>
          </a:p>
        </p:txBody>
      </p:sp>
      <p:sp>
        <p:nvSpPr>
          <p:cNvPr id="10" name="Rectangle 9">
            <a:extLst>
              <a:ext uri="{FF2B5EF4-FFF2-40B4-BE49-F238E27FC236}">
                <a16:creationId xmlns:a16="http://schemas.microsoft.com/office/drawing/2014/main" id="{95488C30-F4F1-4B4F-9BFA-BF4CBB47643D}"/>
              </a:ext>
            </a:extLst>
          </p:cNvPr>
          <p:cNvSpPr>
            <a:spLocks noGrp="1"/>
          </p:cNvSpPr>
          <p:nvPr/>
        </p:nvSpPr>
        <p:spPr>
          <a:xfrm>
            <a:off x="8039100" y="2076450"/>
            <a:ext cx="1047750" cy="428625"/>
          </a:xfrm>
          <a:prstGeom prst="rect">
            <a:avLst/>
          </a:prstGeom>
          <a:noFill/>
          <a:ln w="0">
            <a:noFill/>
          </a:ln>
        </p:spPr>
        <p:txBody>
          <a:bodyPr anchor="t">
            <a:normAutofit fontScale="95161"/>
          </a:bodyPr>
          <a:lstStyle/>
          <a:p>
            <a:pPr algn="l">
              <a:defRPr sz="2325" b="1">
                <a:solidFill>
                  <a:srgbClr val="1769AA"/>
                </a:solidFill>
                <a:latin typeface="Nimbus Sans"/>
                <a:ea typeface="Nimbus Sans"/>
                <a:cs typeface="Nimbus Sans"/>
              </a:defRPr>
            </a:pPr>
            <a:r>
              <a:rPr sz="2325" b="1">
                <a:solidFill>
                  <a:srgbClr val="1769AA"/>
                </a:solidFill>
                <a:latin typeface="Nimbus Sans"/>
                <a:ea typeface="Nimbus Sans"/>
                <a:cs typeface="Nimbus Sans"/>
              </a:rPr>
              <a:t>0.938</a:t>
            </a:r>
          </a:p>
        </p:txBody>
      </p:sp>
      <p:sp>
        <p:nvSpPr>
          <p:cNvPr id="11" name="Rectangle 10">
            <a:extLst>
              <a:ext uri="{FF2B5EF4-FFF2-40B4-BE49-F238E27FC236}">
                <a16:creationId xmlns:a16="http://schemas.microsoft.com/office/drawing/2014/main" id="{7F6F0D85-8CD0-4F20-95AF-63B13703819F}"/>
              </a:ext>
            </a:extLst>
          </p:cNvPr>
          <p:cNvSpPr>
            <a:spLocks noGrp="1"/>
          </p:cNvSpPr>
          <p:nvPr/>
        </p:nvSpPr>
        <p:spPr>
          <a:xfrm>
            <a:off x="9182100" y="2095500"/>
            <a:ext cx="2381250" cy="333375"/>
          </a:xfrm>
          <a:prstGeom prst="rect">
            <a:avLst/>
          </a:prstGeom>
          <a:noFill/>
          <a:ln w="0">
            <a:noFill/>
          </a:ln>
        </p:spPr>
        <p:txBody>
          <a:bodyPr anchor="t">
            <a:normAutofit fontScale="88162" lnSpcReduction="20000"/>
          </a:bodyPr>
          <a:lstStyle/>
          <a:p>
            <a:pPr algn="l">
              <a:defRPr sz="1275" b="1">
                <a:solidFill>
                  <a:srgbClr val="1E2633"/>
                </a:solidFill>
                <a:latin typeface="Nimbus Sans"/>
                <a:ea typeface="Nimbus Sans"/>
                <a:cs typeface="Nimbus Sans"/>
              </a:defRPr>
            </a:pPr>
            <a:r>
              <a:rPr sz="1275" b="1">
                <a:solidFill>
                  <a:srgbClr val="1E2633"/>
                </a:solidFill>
                <a:latin typeface="Nimbus Sans"/>
                <a:ea typeface="Nimbus Sans"/>
                <a:cs typeface="Nimbus Sans"/>
              </a:rPr>
              <a:t>Spearman rho  Listings and food types</a:t>
            </a:r>
          </a:p>
        </p:txBody>
      </p:sp>
      <p:sp>
        <p:nvSpPr>
          <p:cNvPr id="12" name="Rectangle 11">
            <a:extLst>
              <a:ext uri="{FF2B5EF4-FFF2-40B4-BE49-F238E27FC236}">
                <a16:creationId xmlns:a16="http://schemas.microsoft.com/office/drawing/2014/main" id="{D0FBCC99-7DB4-41E1-BBAA-C0C78352D8E7}"/>
              </a:ext>
            </a:extLst>
          </p:cNvPr>
          <p:cNvSpPr>
            <a:spLocks noGrp="1"/>
          </p:cNvSpPr>
          <p:nvPr/>
        </p:nvSpPr>
        <p:spPr>
          <a:xfrm>
            <a:off x="9182100" y="2457450"/>
            <a:ext cx="2381250" cy="590550"/>
          </a:xfrm>
          <a:prstGeom prst="rect">
            <a:avLst/>
          </a:prstGeom>
          <a:noFill/>
          <a:ln w="0">
            <a:noFill/>
          </a:ln>
        </p:spPr>
        <p:txBody>
          <a:bodyPr anchor="t">
            <a:normAutofit/>
          </a:bodyPr>
          <a:lstStyle/>
          <a:p>
            <a:pPr algn="l">
              <a:defRPr sz="1125" b="0">
                <a:solidFill>
                  <a:srgbClr val="606A78"/>
                </a:solidFill>
                <a:latin typeface="Nimbus Sans"/>
                <a:ea typeface="Nimbus Sans"/>
                <a:cs typeface="Nimbus Sans"/>
              </a:defRPr>
            </a:pPr>
            <a:r>
              <a:rPr sz="1125" b="0">
                <a:solidFill>
                  <a:srgbClr val="606A78"/>
                </a:solidFill>
                <a:latin typeface="Nimbus Sans"/>
                <a:ea typeface="Nimbus Sans"/>
                <a:cs typeface="Nimbus Sans"/>
              </a:rPr>
              <a:t>Strong positive pattern, likely affected by coverage.</a:t>
            </a:r>
          </a:p>
        </p:txBody>
      </p:sp>
      <p:sp>
        <p:nvSpPr>
          <p:cNvPr id="13" name="Rectangle 12">
            <a:extLst>
              <a:ext uri="{FF2B5EF4-FFF2-40B4-BE49-F238E27FC236}">
                <a16:creationId xmlns:a16="http://schemas.microsoft.com/office/drawing/2014/main" id="{CBE79F30-6BCB-4ADC-93D1-5C3B75AA26A5}"/>
              </a:ext>
            </a:extLst>
          </p:cNvPr>
          <p:cNvSpPr>
            <a:spLocks noGrp="1"/>
          </p:cNvSpPr>
          <p:nvPr/>
        </p:nvSpPr>
        <p:spPr>
          <a:xfrm>
            <a:off x="8039100" y="3276600"/>
            <a:ext cx="1047750" cy="428625"/>
          </a:xfrm>
          <a:prstGeom prst="rect">
            <a:avLst/>
          </a:prstGeom>
          <a:noFill/>
          <a:ln w="0">
            <a:noFill/>
          </a:ln>
        </p:spPr>
        <p:txBody>
          <a:bodyPr anchor="t">
            <a:normAutofit fontScale="95161"/>
          </a:bodyPr>
          <a:lstStyle/>
          <a:p>
            <a:pPr algn="l">
              <a:defRPr sz="2325" b="1">
                <a:solidFill>
                  <a:srgbClr val="147B64"/>
                </a:solidFill>
                <a:latin typeface="Nimbus Sans"/>
                <a:ea typeface="Nimbus Sans"/>
                <a:cs typeface="Nimbus Sans"/>
              </a:defRPr>
            </a:pPr>
            <a:r>
              <a:rPr sz="2325" b="1">
                <a:solidFill>
                  <a:srgbClr val="147B64"/>
                </a:solidFill>
                <a:latin typeface="Nimbus Sans"/>
                <a:ea typeface="Nimbus Sans"/>
                <a:cs typeface="Nimbus Sans"/>
              </a:rPr>
              <a:t>0.274</a:t>
            </a:r>
          </a:p>
        </p:txBody>
      </p:sp>
      <p:sp>
        <p:nvSpPr>
          <p:cNvPr id="14" name="Rectangle 13">
            <a:extLst>
              <a:ext uri="{FF2B5EF4-FFF2-40B4-BE49-F238E27FC236}">
                <a16:creationId xmlns:a16="http://schemas.microsoft.com/office/drawing/2014/main" id="{122CE4C1-8326-4E80-B961-72511694C865}"/>
              </a:ext>
            </a:extLst>
          </p:cNvPr>
          <p:cNvSpPr>
            <a:spLocks noGrp="1"/>
          </p:cNvSpPr>
          <p:nvPr/>
        </p:nvSpPr>
        <p:spPr>
          <a:xfrm>
            <a:off x="9182100" y="3295650"/>
            <a:ext cx="2381250" cy="333375"/>
          </a:xfrm>
          <a:prstGeom prst="rect">
            <a:avLst/>
          </a:prstGeom>
          <a:noFill/>
          <a:ln w="0">
            <a:noFill/>
          </a:ln>
        </p:spPr>
        <p:txBody>
          <a:bodyPr anchor="t">
            <a:normAutofit fontScale="69755" lnSpcReduction="10000"/>
          </a:bodyPr>
          <a:lstStyle/>
          <a:p>
            <a:pPr algn="l">
              <a:defRPr sz="1275" b="1">
                <a:solidFill>
                  <a:srgbClr val="1E2633"/>
                </a:solidFill>
                <a:latin typeface="Nimbus Sans"/>
                <a:ea typeface="Nimbus Sans"/>
                <a:cs typeface="Nimbus Sans"/>
              </a:defRPr>
            </a:pPr>
            <a:r>
              <a:rPr sz="1275" b="1">
                <a:solidFill>
                  <a:srgbClr val="1E2633"/>
                </a:solidFill>
                <a:latin typeface="Nimbus Sans"/>
                <a:ea typeface="Nimbus Sans"/>
                <a:cs typeface="Nimbus Sans"/>
              </a:rPr>
              <a:t>Spearman rho  Food types and median reviewers</a:t>
            </a:r>
          </a:p>
        </p:txBody>
      </p:sp>
      <p:sp>
        <p:nvSpPr>
          <p:cNvPr id="15" name="Rectangle 14">
            <a:extLst>
              <a:ext uri="{FF2B5EF4-FFF2-40B4-BE49-F238E27FC236}">
                <a16:creationId xmlns:a16="http://schemas.microsoft.com/office/drawing/2014/main" id="{079F081A-FAA8-424A-A526-46A9F57F0936}"/>
              </a:ext>
            </a:extLst>
          </p:cNvPr>
          <p:cNvSpPr>
            <a:spLocks noGrp="1"/>
          </p:cNvSpPr>
          <p:nvPr/>
        </p:nvSpPr>
        <p:spPr>
          <a:xfrm>
            <a:off x="9182100" y="3657600"/>
            <a:ext cx="2381250" cy="590550"/>
          </a:xfrm>
          <a:prstGeom prst="rect">
            <a:avLst/>
          </a:prstGeom>
          <a:noFill/>
          <a:ln w="0">
            <a:noFill/>
          </a:ln>
        </p:spPr>
        <p:txBody>
          <a:bodyPr anchor="t">
            <a:normAutofit/>
          </a:bodyPr>
          <a:lstStyle/>
          <a:p>
            <a:pPr algn="l">
              <a:defRPr sz="1125" b="0">
                <a:solidFill>
                  <a:srgbClr val="606A78"/>
                </a:solidFill>
                <a:latin typeface="Nimbus Sans"/>
                <a:ea typeface="Nimbus Sans"/>
                <a:cs typeface="Nimbus Sans"/>
              </a:defRPr>
            </a:pPr>
            <a:r>
              <a:rPr sz="1125" b="0">
                <a:solidFill>
                  <a:srgbClr val="606A78"/>
                </a:solidFill>
                <a:latin typeface="Nimbus Sans"/>
                <a:ea typeface="Nimbus Sans"/>
                <a:cs typeface="Nimbus Sans"/>
              </a:rPr>
              <a:t>Weak pattern, p = 0.271. Evidence is insufficient.</a:t>
            </a:r>
          </a:p>
        </p:txBody>
      </p:sp>
      <p:sp>
        <p:nvSpPr>
          <p:cNvPr id="16" name="Rectangle 15">
            <a:extLst>
              <a:ext uri="{FF2B5EF4-FFF2-40B4-BE49-F238E27FC236}">
                <a16:creationId xmlns:a16="http://schemas.microsoft.com/office/drawing/2014/main" id="{01A3B4AA-8537-4F10-8A9B-8617DDF66805}"/>
              </a:ext>
            </a:extLst>
          </p:cNvPr>
          <p:cNvSpPr>
            <a:spLocks noGrp="1"/>
          </p:cNvSpPr>
          <p:nvPr/>
        </p:nvSpPr>
        <p:spPr>
          <a:xfrm>
            <a:off x="8039100" y="4476750"/>
            <a:ext cx="1047750" cy="428625"/>
          </a:xfrm>
          <a:prstGeom prst="rect">
            <a:avLst/>
          </a:prstGeom>
          <a:noFill/>
          <a:ln w="0">
            <a:noFill/>
          </a:ln>
        </p:spPr>
        <p:txBody>
          <a:bodyPr anchor="t">
            <a:normAutofit fontScale="95161"/>
          </a:bodyPr>
          <a:lstStyle/>
          <a:p>
            <a:pPr algn="l">
              <a:defRPr sz="2325" b="1">
                <a:solidFill>
                  <a:srgbClr val="1769AA"/>
                </a:solidFill>
                <a:latin typeface="Nimbus Sans"/>
                <a:ea typeface="Nimbus Sans"/>
                <a:cs typeface="Nimbus Sans"/>
              </a:defRPr>
            </a:pPr>
            <a:r>
              <a:rPr sz="2325" b="1">
                <a:solidFill>
                  <a:srgbClr val="1769AA"/>
                </a:solidFill>
                <a:latin typeface="Nimbus Sans"/>
                <a:ea typeface="Nimbus Sans"/>
                <a:cs typeface="Nimbus Sans"/>
              </a:rPr>
              <a:t>0.289</a:t>
            </a:r>
          </a:p>
        </p:txBody>
      </p:sp>
      <p:sp>
        <p:nvSpPr>
          <p:cNvPr id="17" name="Rectangle 16">
            <a:extLst>
              <a:ext uri="{FF2B5EF4-FFF2-40B4-BE49-F238E27FC236}">
                <a16:creationId xmlns:a16="http://schemas.microsoft.com/office/drawing/2014/main" id="{2E7A2353-1381-481D-9D9F-970104452B79}"/>
              </a:ext>
            </a:extLst>
          </p:cNvPr>
          <p:cNvSpPr>
            <a:spLocks noGrp="1"/>
          </p:cNvSpPr>
          <p:nvPr/>
        </p:nvSpPr>
        <p:spPr>
          <a:xfrm>
            <a:off x="9182100" y="4495800"/>
            <a:ext cx="2381250" cy="333375"/>
          </a:xfrm>
          <a:prstGeom prst="rect">
            <a:avLst/>
          </a:prstGeom>
          <a:noFill/>
          <a:ln w="0">
            <a:noFill/>
          </a:ln>
        </p:spPr>
        <p:txBody>
          <a:bodyPr anchor="t">
            <a:normAutofit fontScale="78509" lnSpcReduction="10000"/>
          </a:bodyPr>
          <a:lstStyle/>
          <a:p>
            <a:pPr algn="l">
              <a:defRPr sz="1275" b="1">
                <a:solidFill>
                  <a:srgbClr val="1E2633"/>
                </a:solidFill>
                <a:latin typeface="Nimbus Sans"/>
                <a:ea typeface="Nimbus Sans"/>
                <a:cs typeface="Nimbus Sans"/>
              </a:defRPr>
            </a:pPr>
            <a:r>
              <a:rPr sz="1275" b="1">
                <a:solidFill>
                  <a:srgbClr val="1E2633"/>
                </a:solidFill>
                <a:latin typeface="Nimbus Sans"/>
                <a:ea typeface="Nimbus Sans"/>
                <a:cs typeface="Nimbus Sans"/>
              </a:rPr>
              <a:t>Spearman rho  Reviewers and average rating</a:t>
            </a:r>
          </a:p>
        </p:txBody>
      </p:sp>
      <p:sp>
        <p:nvSpPr>
          <p:cNvPr id="18" name="Rectangle 17">
            <a:extLst>
              <a:ext uri="{FF2B5EF4-FFF2-40B4-BE49-F238E27FC236}">
                <a16:creationId xmlns:a16="http://schemas.microsoft.com/office/drawing/2014/main" id="{CEC4BBF4-F5F0-46B6-806A-52EDB324FFD1}"/>
              </a:ext>
            </a:extLst>
          </p:cNvPr>
          <p:cNvSpPr>
            <a:spLocks noGrp="1"/>
          </p:cNvSpPr>
          <p:nvPr/>
        </p:nvSpPr>
        <p:spPr>
          <a:xfrm>
            <a:off x="9182100" y="4857750"/>
            <a:ext cx="2381250" cy="590550"/>
          </a:xfrm>
          <a:prstGeom prst="rect">
            <a:avLst/>
          </a:prstGeom>
          <a:noFill/>
          <a:ln w="0">
            <a:noFill/>
          </a:ln>
        </p:spPr>
        <p:txBody>
          <a:bodyPr anchor="t">
            <a:normAutofit/>
          </a:bodyPr>
          <a:lstStyle/>
          <a:p>
            <a:pPr algn="l">
              <a:defRPr sz="1125" b="0">
                <a:solidFill>
                  <a:srgbClr val="606A78"/>
                </a:solidFill>
                <a:latin typeface="Nimbus Sans"/>
                <a:ea typeface="Nimbus Sans"/>
                <a:cs typeface="Nimbus Sans"/>
              </a:defRPr>
            </a:pPr>
            <a:r>
              <a:rPr sz="1125" b="0">
                <a:solidFill>
                  <a:srgbClr val="606A78"/>
                </a:solidFill>
                <a:latin typeface="Nimbus Sans"/>
                <a:ea typeface="Nimbus Sans"/>
                <a:cs typeface="Nimbus Sans"/>
              </a:rPr>
              <a:t>Weak positive pattern, p &lt; 0.001.</a:t>
            </a:r>
          </a:p>
        </p:txBody>
      </p:sp>
      <p:sp>
        <p:nvSpPr>
          <p:cNvPr id="19" name="Rectangle 18">
            <a:extLst>
              <a:ext uri="{FF2B5EF4-FFF2-40B4-BE49-F238E27FC236}">
                <a16:creationId xmlns:a16="http://schemas.microsoft.com/office/drawing/2014/main" id="{CCA43042-F2D7-4945-82B4-12C6ECB6CA35}"/>
              </a:ext>
            </a:extLst>
          </p:cNvPr>
          <p:cNvSpPr>
            <a:spLocks noGrp="1"/>
          </p:cNvSpPr>
          <p:nvPr/>
        </p:nvSpPr>
        <p:spPr>
          <a:xfrm>
            <a:off x="8039100" y="5743575"/>
            <a:ext cx="3476625" cy="381000"/>
          </a:xfrm>
          <a:prstGeom prst="rect">
            <a:avLst/>
          </a:prstGeom>
          <a:noFill/>
          <a:ln w="0">
            <a:noFill/>
          </a:ln>
        </p:spPr>
        <p:txBody>
          <a:bodyPr anchor="t">
            <a:normAutofit fontScale="91944" lnSpcReduction="10000"/>
          </a:bodyPr>
          <a:lstStyle/>
          <a:p>
            <a:pPr algn="l">
              <a:defRPr sz="1125" b="1">
                <a:solidFill>
                  <a:srgbClr val="B7463B"/>
                </a:solidFill>
                <a:latin typeface="Nimbus Sans"/>
                <a:ea typeface="Nimbus Sans"/>
                <a:cs typeface="Nimbus Sans"/>
              </a:defRPr>
            </a:pPr>
            <a:r>
              <a:rPr sz="1125" b="1">
                <a:solidFill>
                  <a:srgbClr val="B7463B"/>
                </a:solidFill>
                <a:latin typeface="Nimbus Sans"/>
                <a:ea typeface="Nimbus Sans"/>
                <a:cs typeface="Nimbus Sans"/>
              </a:rPr>
              <a:t>Correlation describes association. It does not establish cause and effect.</a:t>
            </a:r>
          </a:p>
        </p:txBody>
      </p:sp>
    </p:spTree>
    <p:extLst>
      <p:ext uri="{BB962C8B-B14F-4D97-AF65-F5344CB8AC3E}">
        <p14:creationId xmlns:p14="http://schemas.microsoft.com/office/powerpoint/2010/main" val="1460339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758DF2-83F2-4FF3-BF48-BE102D3206CB}"/>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Food-type shares reveal different city-level mixes</a:t>
            </a:r>
          </a:p>
        </p:txBody>
      </p:sp>
      <p:sp>
        <p:nvSpPr>
          <p:cNvPr id="2" name="Rectangle 1">
            <a:extLst>
              <a:ext uri="{FF2B5EF4-FFF2-40B4-BE49-F238E27FC236}">
                <a16:creationId xmlns:a16="http://schemas.microsoft.com/office/drawing/2014/main" id="{2AB55EEB-59BB-43A5-A5D9-B0A14B41B2C6}"/>
              </a:ext>
            </a:extLst>
          </p:cNvPr>
          <p:cNvSpPr>
            <a:spLocks noGrp="1"/>
          </p:cNvSpPr>
          <p:nvPr/>
        </p:nvSpPr>
        <p:spPr>
          <a:xfrm>
            <a:off x="514350" y="838200"/>
            <a:ext cx="11125200" cy="266700"/>
          </a:xfrm>
          <a:prstGeom prst="rect">
            <a:avLst/>
          </a:prstGeom>
          <a:noFill/>
          <a:ln w="0">
            <a:noFill/>
          </a:ln>
        </p:spPr>
        <p:txBody>
          <a:bodyPr anchor="t">
            <a:normAutofit fontScale="97696" lnSpcReduction="10000"/>
          </a:bodyPr>
          <a:lstStyle/>
          <a:p>
            <a:pPr algn="l">
              <a:defRPr sz="1275" b="0">
                <a:solidFill>
                  <a:srgbClr val="606A78"/>
                </a:solidFill>
                <a:latin typeface="Nimbus Sans"/>
                <a:ea typeface="Nimbus Sans"/>
                <a:cs typeface="Nimbus Sans"/>
              </a:defRPr>
            </a:pPr>
            <a:r>
              <a:rPr sz="1275" b="0">
                <a:solidFill>
                  <a:srgbClr val="606A78"/>
                </a:solidFill>
                <a:latin typeface="Nimbus Sans"/>
                <a:ea typeface="Nimbus Sans"/>
                <a:cs typeface="Nimbus Sans"/>
              </a:rPr>
              <a:t>Specific Objectives 2 and 4: proportional representation</a:t>
            </a:r>
          </a:p>
        </p:txBody>
      </p:sp>
      <p:sp>
        <p:nvSpPr>
          <p:cNvPr id="3" name="Rectangle 2">
            <a:extLst>
              <a:ext uri="{FF2B5EF4-FFF2-40B4-BE49-F238E27FC236}">
                <a16:creationId xmlns:a16="http://schemas.microsoft.com/office/drawing/2014/main" id="{98A16BB4-9F58-4932-986D-12A443BF318C}"/>
              </a:ext>
            </a:extLst>
          </p:cNvPr>
          <p:cNvSpPr>
            <a:spLocks noGrp="1"/>
          </p:cNvSpPr>
          <p:nvPr/>
        </p:nvSpPr>
        <p:spPr>
          <a:xfrm>
            <a:off x="514350" y="1171575"/>
            <a:ext cx="11125200" cy="28575"/>
          </a:xfrm>
          <a:prstGeom prst="rect">
            <a:avLst/>
          </a:prstGeom>
          <a:solidFill>
            <a:srgbClr val="F3A321"/>
          </a:solidFill>
          <a:ln w="0">
            <a:noFill/>
          </a:ln>
        </p:spPr>
      </p:sp>
      <p:sp>
        <p:nvSpPr>
          <p:cNvPr id="5" name="Rectangle 4">
            <a:extLst>
              <a:ext uri="{FF2B5EF4-FFF2-40B4-BE49-F238E27FC236}">
                <a16:creationId xmlns:a16="http://schemas.microsoft.com/office/drawing/2014/main" id="{0B03DC35-1E8E-4CA0-BF64-55C2ED201FBF}"/>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6" name="Rectangle 5">
            <a:extLst>
              <a:ext uri="{FF2B5EF4-FFF2-40B4-BE49-F238E27FC236}">
                <a16:creationId xmlns:a16="http://schemas.microsoft.com/office/drawing/2014/main" id="{4DA525FA-486C-4339-857E-C2741EE1353E}"/>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11</a:t>
            </a:r>
          </a:p>
        </p:txBody>
      </p:sp>
      <p:pic>
        <p:nvPicPr>
          <p:cNvPr id="17" name="Picture 16"/>
          <p:cNvPicPr>
            <a:picLocks noChangeAspect="1"/>
          </p:cNvPicPr>
          <p:nvPr/>
        </p:nvPicPr>
        <p:blipFill>
          <a:blip r:embed="rId3"/>
          <a:stretch/>
        </p:blipFill>
        <p:spPr>
          <a:xfrm>
            <a:off x="1120006" y="1257300"/>
            <a:ext cx="7018288" cy="5000625"/>
          </a:xfrm>
          <a:prstGeom prst="rect">
            <a:avLst/>
          </a:prstGeom>
        </p:spPr>
      </p:pic>
      <p:sp>
        <p:nvSpPr>
          <p:cNvPr id="8" name="Rectangle 7">
            <a:extLst>
              <a:ext uri="{FF2B5EF4-FFF2-40B4-BE49-F238E27FC236}">
                <a16:creationId xmlns:a16="http://schemas.microsoft.com/office/drawing/2014/main" id="{C1C1A804-7F8C-4A65-8EA5-EDAD24EF2FE2}"/>
              </a:ext>
            </a:extLst>
          </p:cNvPr>
          <p:cNvSpPr>
            <a:spLocks noGrp="1"/>
          </p:cNvSpPr>
          <p:nvPr/>
        </p:nvSpPr>
        <p:spPr>
          <a:xfrm>
            <a:off x="9239250" y="1409700"/>
            <a:ext cx="47625" cy="4171950"/>
          </a:xfrm>
          <a:prstGeom prst="rect">
            <a:avLst/>
          </a:prstGeom>
          <a:solidFill>
            <a:srgbClr val="1769AA"/>
          </a:solidFill>
          <a:ln w="0">
            <a:noFill/>
          </a:ln>
        </p:spPr>
      </p:sp>
      <p:sp>
        <p:nvSpPr>
          <p:cNvPr id="9" name="Rectangle 8">
            <a:extLst>
              <a:ext uri="{FF2B5EF4-FFF2-40B4-BE49-F238E27FC236}">
                <a16:creationId xmlns:a16="http://schemas.microsoft.com/office/drawing/2014/main" id="{31C29ACC-58F5-4A72-998B-7E4A3AC032F3}"/>
              </a:ext>
            </a:extLst>
          </p:cNvPr>
          <p:cNvSpPr>
            <a:spLocks noGrp="1"/>
          </p:cNvSpPr>
          <p:nvPr/>
        </p:nvSpPr>
        <p:spPr>
          <a:xfrm>
            <a:off x="9525000" y="1485900"/>
            <a:ext cx="2095500" cy="361950"/>
          </a:xfrm>
          <a:prstGeom prst="rect">
            <a:avLst/>
          </a:prstGeom>
          <a:noFill/>
          <a:ln w="0">
            <a:noFill/>
          </a:ln>
        </p:spPr>
        <p:txBody>
          <a:bodyPr anchor="t">
            <a:normAutofit/>
          </a:bodyPr>
          <a:lstStyle/>
          <a:p>
            <a:pPr algn="l">
              <a:defRPr sz="1650" b="1">
                <a:solidFill>
                  <a:srgbClr val="1769AA"/>
                </a:solidFill>
                <a:latin typeface="Nimbus Sans"/>
                <a:ea typeface="Nimbus Sans"/>
                <a:cs typeface="Nimbus Sans"/>
              </a:defRPr>
            </a:pPr>
            <a:r>
              <a:rPr sz="1650" b="1">
                <a:solidFill>
                  <a:srgbClr val="1769AA"/>
                </a:solidFill>
                <a:latin typeface="Nimbus Sans"/>
                <a:ea typeface="Nimbus Sans"/>
                <a:cs typeface="Nimbus Sans"/>
              </a:rPr>
              <a:t>How to read it</a:t>
            </a:r>
          </a:p>
        </p:txBody>
      </p:sp>
      <p:sp>
        <p:nvSpPr>
          <p:cNvPr id="10" name="Rectangle 9">
            <a:extLst>
              <a:ext uri="{FF2B5EF4-FFF2-40B4-BE49-F238E27FC236}">
                <a16:creationId xmlns:a16="http://schemas.microsoft.com/office/drawing/2014/main" id="{3D3B274C-7055-4C5D-9FCE-9CF5DAB94191}"/>
              </a:ext>
            </a:extLst>
          </p:cNvPr>
          <p:cNvSpPr>
            <a:spLocks noGrp="1"/>
          </p:cNvSpPr>
          <p:nvPr/>
        </p:nvSpPr>
        <p:spPr>
          <a:xfrm>
            <a:off x="9525000" y="2114550"/>
            <a:ext cx="2095500" cy="2857500"/>
          </a:xfrm>
          <a:prstGeom prst="rect">
            <a:avLst/>
          </a:prstGeom>
          <a:noFill/>
          <a:ln w="0">
            <a:noFill/>
          </a:ln>
        </p:spPr>
        <p:txBody>
          <a:bodyPr anchor="t">
            <a:normAutofit/>
          </a:bodyPr>
          <a:lstStyle/>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Darker blue means a larger share within a city.</a:t>
            </a:r>
          </a:p>
          <a:p>
            <a:endParaRPr sz="1350" b="0">
              <a:solidFill>
                <a:srgbClr val="1E2633"/>
              </a:solidFill>
              <a:latin typeface="Nimbus Sans"/>
              <a:ea typeface="Nimbus Sans"/>
              <a:cs typeface="Nimbus Sans"/>
            </a:endParaRPr>
          </a:p>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Filipino food leads among the top ten categories in 16 of 18 cities.</a:t>
            </a:r>
          </a:p>
          <a:p>
            <a:endParaRPr sz="1350" b="0">
              <a:solidFill>
                <a:srgbClr val="1E2633"/>
              </a:solidFill>
              <a:latin typeface="Nimbus Sans"/>
              <a:ea typeface="Nimbus Sans"/>
              <a:cs typeface="Nimbus Sans"/>
            </a:endParaRPr>
          </a:p>
          <a:p>
            <a:pPr algn="l">
              <a:defRPr sz="1350" b="0">
                <a:solidFill>
                  <a:srgbClr val="1E2633"/>
                </a:solidFill>
                <a:latin typeface="Nimbus Sans"/>
                <a:ea typeface="Nimbus Sans"/>
                <a:cs typeface="Nimbus Sans"/>
              </a:defRPr>
            </a:pPr>
            <a:r>
              <a:rPr sz="1350" b="0">
                <a:solidFill>
                  <a:srgbClr val="1E2633"/>
                </a:solidFill>
                <a:latin typeface="Nimbus Sans"/>
                <a:ea typeface="Nimbus Sans"/>
                <a:cs typeface="Nimbus Sans"/>
              </a:rPr>
              <a:t>Chicken leads in Ormoc. Milk Tea leads in Valencia.</a:t>
            </a:r>
          </a:p>
        </p:txBody>
      </p:sp>
    </p:spTree>
    <p:extLst>
      <p:ext uri="{BB962C8B-B14F-4D97-AF65-F5344CB8AC3E}">
        <p14:creationId xmlns:p14="http://schemas.microsoft.com/office/powerpoint/2010/main" val="268137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47B27FA-1FDA-4DCD-A946-1EEB872587D5}"/>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Main findings and limitations</a:t>
            </a:r>
          </a:p>
        </p:txBody>
      </p:sp>
      <p:sp>
        <p:nvSpPr>
          <p:cNvPr id="2" name="Rectangle 1">
            <a:extLst>
              <a:ext uri="{FF2B5EF4-FFF2-40B4-BE49-F238E27FC236}">
                <a16:creationId xmlns:a16="http://schemas.microsoft.com/office/drawing/2014/main" id="{B436DA59-AF9C-4B05-9AC5-3D506FA933D9}"/>
              </a:ext>
            </a:extLst>
          </p:cNvPr>
          <p:cNvSpPr>
            <a:spLocks noGrp="1"/>
          </p:cNvSpPr>
          <p:nvPr/>
        </p:nvSpPr>
        <p:spPr>
          <a:xfrm>
            <a:off x="514350" y="838200"/>
            <a:ext cx="11125200" cy="266700"/>
          </a:xfrm>
          <a:prstGeom prst="rect">
            <a:avLst/>
          </a:prstGeom>
          <a:noFill/>
          <a:ln w="0">
            <a:noFill/>
          </a:ln>
        </p:spPr>
        <p:txBody>
          <a:bodyPr anchor="t">
            <a:normAutofit fontScale="97696" lnSpcReduction="10000"/>
          </a:bodyPr>
          <a:lstStyle/>
          <a:p>
            <a:pPr algn="l">
              <a:defRPr sz="1275" b="0">
                <a:solidFill>
                  <a:srgbClr val="606A78"/>
                </a:solidFill>
                <a:latin typeface="Nimbus Sans"/>
                <a:ea typeface="Nimbus Sans"/>
                <a:cs typeface="Nimbus Sans"/>
              </a:defRPr>
            </a:pPr>
            <a:r>
              <a:rPr sz="1275" b="0">
                <a:solidFill>
                  <a:srgbClr val="606A78"/>
                </a:solidFill>
                <a:latin typeface="Nimbus Sans"/>
                <a:ea typeface="Nimbus Sans"/>
                <a:cs typeface="Nimbus Sans"/>
              </a:rPr>
              <a:t>Specific Objective 6: plain-language communication</a:t>
            </a:r>
          </a:p>
        </p:txBody>
      </p:sp>
      <p:sp>
        <p:nvSpPr>
          <p:cNvPr id="3" name="Rectangle 2">
            <a:extLst>
              <a:ext uri="{FF2B5EF4-FFF2-40B4-BE49-F238E27FC236}">
                <a16:creationId xmlns:a16="http://schemas.microsoft.com/office/drawing/2014/main" id="{EFB463BD-A48A-4503-B6A5-A475F3155D1D}"/>
              </a:ext>
            </a:extLst>
          </p:cNvPr>
          <p:cNvSpPr>
            <a:spLocks noGrp="1"/>
          </p:cNvSpPr>
          <p:nvPr/>
        </p:nvSpPr>
        <p:spPr>
          <a:xfrm>
            <a:off x="514350" y="1171575"/>
            <a:ext cx="11125200" cy="28575"/>
          </a:xfrm>
          <a:prstGeom prst="rect">
            <a:avLst/>
          </a:prstGeom>
          <a:solidFill>
            <a:srgbClr val="F3A321"/>
          </a:solidFill>
          <a:ln w="0">
            <a:noFill/>
          </a:ln>
        </p:spPr>
      </p:sp>
      <p:sp>
        <p:nvSpPr>
          <p:cNvPr id="5" name="Rectangle 4">
            <a:extLst>
              <a:ext uri="{FF2B5EF4-FFF2-40B4-BE49-F238E27FC236}">
                <a16:creationId xmlns:a16="http://schemas.microsoft.com/office/drawing/2014/main" id="{67EDC7B0-4857-4297-ADC9-5F4793173E54}"/>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6" name="Rectangle 5">
            <a:extLst>
              <a:ext uri="{FF2B5EF4-FFF2-40B4-BE49-F238E27FC236}">
                <a16:creationId xmlns:a16="http://schemas.microsoft.com/office/drawing/2014/main" id="{1F290D65-1D01-4E82-9F1C-03EEE7A6BC8C}"/>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12</a:t>
            </a:r>
          </a:p>
        </p:txBody>
      </p:sp>
      <p:sp>
        <p:nvSpPr>
          <p:cNvPr id="7" name="Rectangle 6">
            <a:extLst>
              <a:ext uri="{FF2B5EF4-FFF2-40B4-BE49-F238E27FC236}">
                <a16:creationId xmlns:a16="http://schemas.microsoft.com/office/drawing/2014/main" id="{284B8422-1E52-409B-B956-34E81ECBE8C4}"/>
              </a:ext>
            </a:extLst>
          </p:cNvPr>
          <p:cNvSpPr>
            <a:spLocks noGrp="1"/>
          </p:cNvSpPr>
          <p:nvPr/>
        </p:nvSpPr>
        <p:spPr>
          <a:xfrm>
            <a:off x="628650" y="1466850"/>
            <a:ext cx="4476750" cy="400050"/>
          </a:xfrm>
          <a:prstGeom prst="rect">
            <a:avLst/>
          </a:prstGeom>
          <a:noFill/>
          <a:ln w="0">
            <a:noFill/>
          </a:ln>
        </p:spPr>
        <p:txBody>
          <a:bodyPr anchor="t">
            <a:normAutofit/>
          </a:bodyPr>
          <a:lstStyle/>
          <a:p>
            <a:pPr algn="l">
              <a:defRPr sz="1875" b="1">
                <a:solidFill>
                  <a:srgbClr val="147B64"/>
                </a:solidFill>
                <a:latin typeface="Nimbus Sans"/>
                <a:ea typeface="Nimbus Sans"/>
                <a:cs typeface="Nimbus Sans"/>
              </a:defRPr>
            </a:pPr>
            <a:r>
              <a:rPr sz="1875" b="1">
                <a:solidFill>
                  <a:srgbClr val="147B64"/>
                </a:solidFill>
                <a:latin typeface="Nimbus Sans"/>
                <a:ea typeface="Nimbus Sans"/>
                <a:cs typeface="Nimbus Sans"/>
              </a:rPr>
              <a:t>What the dataset shows</a:t>
            </a:r>
          </a:p>
        </p:txBody>
      </p:sp>
      <p:sp>
        <p:nvSpPr>
          <p:cNvPr id="8" name="Rectangle 7">
            <a:extLst>
              <a:ext uri="{FF2B5EF4-FFF2-40B4-BE49-F238E27FC236}">
                <a16:creationId xmlns:a16="http://schemas.microsoft.com/office/drawing/2014/main" id="{99A4F611-8548-454F-9D7D-DCA71FF56D1F}"/>
              </a:ext>
            </a:extLst>
          </p:cNvPr>
          <p:cNvSpPr>
            <a:spLocks noGrp="1"/>
          </p:cNvSpPr>
          <p:nvPr/>
        </p:nvSpPr>
        <p:spPr>
          <a:xfrm>
            <a:off x="628650" y="2114550"/>
            <a:ext cx="4762500" cy="3429000"/>
          </a:xfrm>
          <a:prstGeom prst="rect">
            <a:avLst/>
          </a:prstGeom>
          <a:noFill/>
          <a:ln w="0">
            <a:noFill/>
          </a:ln>
        </p:spPr>
        <p:txBody>
          <a:bodyPr anchor="t">
            <a:normAutofit/>
          </a:bodyPr>
          <a:lstStyle/>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Listing coverage and food-type variety differ across cities.</a:t>
            </a:r>
          </a:p>
          <a:p>
            <a:endParaRPr sz="1575" b="0">
              <a:solidFill>
                <a:srgbClr val="1E2633"/>
              </a:solidFill>
              <a:latin typeface="Nimbus Sans"/>
              <a:ea typeface="Nimbus Sans"/>
              <a:cs typeface="Nimbus Sans"/>
            </a:endParaRP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Filipino food is the most represented known category.</a:t>
            </a:r>
          </a:p>
          <a:p>
            <a:endParaRPr sz="1575" b="0">
              <a:solidFill>
                <a:srgbClr val="1E2633"/>
              </a:solidFill>
              <a:latin typeface="Nimbus Sans"/>
              <a:ea typeface="Nimbus Sans"/>
              <a:cs typeface="Nimbus Sans"/>
            </a:endParaRP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Reviewer activity varies more than city average ratings.</a:t>
            </a:r>
          </a:p>
          <a:p>
            <a:endParaRPr sz="1575" b="0">
              <a:solidFill>
                <a:srgbClr val="1E2633"/>
              </a:solidFill>
              <a:latin typeface="Nimbus Sans"/>
              <a:ea typeface="Nimbus Sans"/>
              <a:cs typeface="Nimbus Sans"/>
            </a:endParaRP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Food-type diversity has only a weak, non-significant city-level relationship with typical reviewer activity.</a:t>
            </a:r>
          </a:p>
        </p:txBody>
      </p:sp>
      <p:sp>
        <p:nvSpPr>
          <p:cNvPr id="9" name="Rectangle 8">
            <a:extLst>
              <a:ext uri="{FF2B5EF4-FFF2-40B4-BE49-F238E27FC236}">
                <a16:creationId xmlns:a16="http://schemas.microsoft.com/office/drawing/2014/main" id="{050B6199-83DE-4A54-9161-6066EF1F72D7}"/>
              </a:ext>
            </a:extLst>
          </p:cNvPr>
          <p:cNvSpPr>
            <a:spLocks noGrp="1"/>
          </p:cNvSpPr>
          <p:nvPr/>
        </p:nvSpPr>
        <p:spPr>
          <a:xfrm>
            <a:off x="5962650" y="1447800"/>
            <a:ext cx="38100" cy="4191000"/>
          </a:xfrm>
          <a:prstGeom prst="rect">
            <a:avLst/>
          </a:prstGeom>
          <a:solidFill>
            <a:srgbClr val="F3A321"/>
          </a:solidFill>
          <a:ln w="0">
            <a:noFill/>
          </a:ln>
        </p:spPr>
      </p:sp>
      <p:sp>
        <p:nvSpPr>
          <p:cNvPr id="10" name="Rectangle 9">
            <a:extLst>
              <a:ext uri="{FF2B5EF4-FFF2-40B4-BE49-F238E27FC236}">
                <a16:creationId xmlns:a16="http://schemas.microsoft.com/office/drawing/2014/main" id="{6E1B2AEC-2B68-4D44-836A-99D737AA93E0}"/>
              </a:ext>
            </a:extLst>
          </p:cNvPr>
          <p:cNvSpPr>
            <a:spLocks noGrp="1"/>
          </p:cNvSpPr>
          <p:nvPr/>
        </p:nvSpPr>
        <p:spPr>
          <a:xfrm>
            <a:off x="6400800" y="1466850"/>
            <a:ext cx="4762500" cy="400050"/>
          </a:xfrm>
          <a:prstGeom prst="rect">
            <a:avLst/>
          </a:prstGeom>
          <a:noFill/>
          <a:ln w="0">
            <a:noFill/>
          </a:ln>
        </p:spPr>
        <p:txBody>
          <a:bodyPr anchor="t">
            <a:normAutofit/>
          </a:bodyPr>
          <a:lstStyle/>
          <a:p>
            <a:pPr algn="l">
              <a:defRPr sz="1875" b="1">
                <a:solidFill>
                  <a:srgbClr val="F3A321"/>
                </a:solidFill>
                <a:latin typeface="Nimbus Sans"/>
                <a:ea typeface="Nimbus Sans"/>
                <a:cs typeface="Nimbus Sans"/>
              </a:defRPr>
            </a:pPr>
            <a:r>
              <a:rPr sz="1875" b="1">
                <a:solidFill>
                  <a:srgbClr val="F3A321"/>
                </a:solidFill>
                <a:latin typeface="Nimbus Sans"/>
                <a:ea typeface="Nimbus Sans"/>
                <a:cs typeface="Nimbus Sans"/>
              </a:rPr>
              <a:t>What limits the conclusions</a:t>
            </a:r>
          </a:p>
        </p:txBody>
      </p:sp>
      <p:sp>
        <p:nvSpPr>
          <p:cNvPr id="11" name="Rectangle 10">
            <a:extLst>
              <a:ext uri="{FF2B5EF4-FFF2-40B4-BE49-F238E27FC236}">
                <a16:creationId xmlns:a16="http://schemas.microsoft.com/office/drawing/2014/main" id="{999ABC4F-06DF-47D1-8E63-DAAB28232F0C}"/>
              </a:ext>
            </a:extLst>
          </p:cNvPr>
          <p:cNvSpPr>
            <a:spLocks noGrp="1"/>
          </p:cNvSpPr>
          <p:nvPr/>
        </p:nvSpPr>
        <p:spPr>
          <a:xfrm>
            <a:off x="6400800" y="2114550"/>
            <a:ext cx="4762500" cy="3429000"/>
          </a:xfrm>
          <a:prstGeom prst="rect">
            <a:avLst/>
          </a:prstGeom>
          <a:noFill/>
          <a:ln w="0">
            <a:noFill/>
          </a:ln>
        </p:spPr>
        <p:txBody>
          <a:bodyPr anchor="t">
            <a:normAutofit/>
          </a:bodyPr>
          <a:lstStyle/>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The dataset covers Foodpanda listings rather than every operating restaurant.</a:t>
            </a:r>
          </a:p>
          <a:p>
            <a:endParaRPr sz="1575" b="0">
              <a:solidFill>
                <a:srgbClr val="1E2633"/>
              </a:solidFill>
              <a:latin typeface="Nimbus Sans"/>
              <a:ea typeface="Nimbus Sans"/>
              <a:cs typeface="Nimbus Sans"/>
            </a:endParaRP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Unequal city coverage affects comparisons.</a:t>
            </a:r>
          </a:p>
          <a:p>
            <a:endParaRPr sz="1575" b="0">
              <a:solidFill>
                <a:srgbClr val="1E2633"/>
              </a:solidFill>
              <a:latin typeface="Nimbus Sans"/>
              <a:ea typeface="Nimbus Sans"/>
              <a:cs typeface="Nimbus Sans"/>
            </a:endParaRP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Missing food types and repeated IDs may reflect platform or collection limitations.</a:t>
            </a:r>
          </a:p>
          <a:p>
            <a:endParaRPr sz="1575" b="0">
              <a:solidFill>
                <a:srgbClr val="1E2633"/>
              </a:solidFill>
              <a:latin typeface="Nimbus Sans"/>
              <a:ea typeface="Nimbus Sans"/>
              <a:cs typeface="Nimbus Sans"/>
            </a:endParaRP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The original source, collection method, and reuse terms still require confirmation.</a:t>
            </a:r>
          </a:p>
          <a:p>
            <a:endParaRPr sz="1575" b="0">
              <a:solidFill>
                <a:srgbClr val="1E2633"/>
              </a:solidFill>
              <a:latin typeface="Nimbus Sans"/>
              <a:ea typeface="Nimbus Sans"/>
              <a:cs typeface="Nimbus Sans"/>
            </a:endParaRP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Correlation does not prove causation.</a:t>
            </a:r>
          </a:p>
        </p:txBody>
      </p:sp>
      <p:sp>
        <p:nvSpPr>
          <p:cNvPr id="12" name="Rectangle 11">
            <a:extLst>
              <a:ext uri="{FF2B5EF4-FFF2-40B4-BE49-F238E27FC236}">
                <a16:creationId xmlns:a16="http://schemas.microsoft.com/office/drawing/2014/main" id="{D3806A9D-FF7F-4994-B9C0-12F9B85DC5C6}"/>
              </a:ext>
            </a:extLst>
          </p:cNvPr>
          <p:cNvSpPr>
            <a:spLocks noGrp="1"/>
          </p:cNvSpPr>
          <p:nvPr/>
        </p:nvSpPr>
        <p:spPr>
          <a:xfrm>
            <a:off x="628650" y="5810250"/>
            <a:ext cx="10477500" cy="400050"/>
          </a:xfrm>
          <a:prstGeom prst="rect">
            <a:avLst/>
          </a:prstGeom>
          <a:noFill/>
          <a:ln w="0">
            <a:noFill/>
          </a:ln>
        </p:spPr>
        <p:txBody>
          <a:bodyPr anchor="t">
            <a:normAutofit fontScale="99093"/>
          </a:bodyPr>
          <a:lstStyle/>
          <a:p>
            <a:pPr algn="l">
              <a:defRPr sz="1575" b="1">
                <a:solidFill>
                  <a:srgbClr val="202A63"/>
                </a:solidFill>
                <a:latin typeface="Nimbus Sans"/>
                <a:ea typeface="Nimbus Sans"/>
                <a:cs typeface="Nimbus Sans"/>
              </a:defRPr>
            </a:pPr>
            <a:r>
              <a:rPr sz="1575" b="1">
                <a:solidFill>
                  <a:srgbClr val="202A63"/>
                </a:solidFill>
                <a:latin typeface="Nimbus Sans"/>
                <a:ea typeface="Nimbus Sans"/>
                <a:cs typeface="Nimbus Sans"/>
              </a:rPr>
              <a:t>Conclusion: The dataset shows a varied but unevenly captured restaurant-listing landscape across the selected cities.</a:t>
            </a:r>
          </a:p>
        </p:txBody>
      </p:sp>
    </p:spTree>
    <p:extLst>
      <p:ext uri="{BB962C8B-B14F-4D97-AF65-F5344CB8AC3E}">
        <p14:creationId xmlns:p14="http://schemas.microsoft.com/office/powerpoint/2010/main" val="800602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2A9EDA4-F082-4105-8472-1A64B6AE9987}"/>
              </a:ext>
            </a:extLst>
          </p:cNvPr>
          <p:cNvSpPr>
            <a:spLocks noGrp="1"/>
          </p:cNvSpPr>
          <p:nvPr/>
        </p:nvSpPr>
        <p:spPr>
          <a:xfrm>
            <a:off x="514350" y="323850"/>
            <a:ext cx="11125200" cy="514350"/>
          </a:xfrm>
          <a:prstGeom prst="rect">
            <a:avLst/>
          </a:prstGeom>
          <a:noFill/>
          <a:ln w="0">
            <a:noFill/>
          </a:ln>
        </p:spPr>
        <p:txBody>
          <a:bodyPr anchor="t">
            <a:normAutofit/>
          </a:bodyPr>
          <a:lstStyle/>
          <a:p>
            <a:pPr algn="l">
              <a:defRPr sz="2550" b="1">
                <a:solidFill>
                  <a:srgbClr val="202A63"/>
                </a:solidFill>
                <a:latin typeface="Nimbus Sans"/>
                <a:ea typeface="Nimbus Sans"/>
                <a:cs typeface="Nimbus Sans"/>
              </a:defRPr>
            </a:pPr>
            <a:r>
              <a:rPr sz="2550" b="1">
                <a:solidFill>
                  <a:srgbClr val="202A63"/>
                </a:solidFill>
                <a:latin typeface="Nimbus Sans"/>
                <a:ea typeface="Nimbus Sans"/>
                <a:cs typeface="Nimbus Sans"/>
              </a:rPr>
              <a:t>Notebook walkthroughs</a:t>
            </a:r>
          </a:p>
        </p:txBody>
      </p:sp>
      <p:sp>
        <p:nvSpPr>
          <p:cNvPr id="3" name="Rectangle 2">
            <a:extLst>
              <a:ext uri="{FF2B5EF4-FFF2-40B4-BE49-F238E27FC236}">
                <a16:creationId xmlns:a16="http://schemas.microsoft.com/office/drawing/2014/main" id="{59EBB909-80C3-470A-A156-0332644AFDE5}"/>
              </a:ext>
            </a:extLst>
          </p:cNvPr>
          <p:cNvSpPr>
            <a:spLocks noGrp="1"/>
          </p:cNvSpPr>
          <p:nvPr/>
        </p:nvSpPr>
        <p:spPr>
          <a:xfrm>
            <a:off x="514350" y="1171575"/>
            <a:ext cx="11125200" cy="28575"/>
          </a:xfrm>
          <a:prstGeom prst="rect">
            <a:avLst/>
          </a:prstGeom>
          <a:solidFill>
            <a:srgbClr val="F3A321"/>
          </a:solidFill>
          <a:ln w="0">
            <a:noFill/>
          </a:ln>
        </p:spPr>
      </p:sp>
      <p:sp>
        <p:nvSpPr>
          <p:cNvPr id="5" name="Rectangle 4">
            <a:extLst>
              <a:ext uri="{FF2B5EF4-FFF2-40B4-BE49-F238E27FC236}">
                <a16:creationId xmlns:a16="http://schemas.microsoft.com/office/drawing/2014/main" id="{7D72CC05-A580-4941-834E-0B9F00C8FC63}"/>
              </a:ext>
            </a:extLst>
          </p:cNvPr>
          <p:cNvSpPr>
            <a:spLocks noGrp="1"/>
          </p:cNvSpPr>
          <p:nvPr/>
        </p:nvSpPr>
        <p:spPr>
          <a:xfrm>
            <a:off x="4762500" y="6457950"/>
            <a:ext cx="2667000" cy="171450"/>
          </a:xfrm>
          <a:prstGeom prst="rect">
            <a:avLst/>
          </a:prstGeom>
          <a:noFill/>
          <a:ln w="0">
            <a:noFill/>
          </a:ln>
        </p:spPr>
        <p:txBody>
          <a:bodyPr anchor="t">
            <a:normAutofit fontScale="65833" lnSpcReduction="10000"/>
          </a:bodyPr>
          <a:lstStyle/>
          <a:p>
            <a:pPr algn="ct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Milestone 2, Group 3</a:t>
            </a:r>
          </a:p>
        </p:txBody>
      </p:sp>
      <p:sp>
        <p:nvSpPr>
          <p:cNvPr id="6" name="Rectangle 5">
            <a:extLst>
              <a:ext uri="{FF2B5EF4-FFF2-40B4-BE49-F238E27FC236}">
                <a16:creationId xmlns:a16="http://schemas.microsoft.com/office/drawing/2014/main" id="{04895C95-B87C-4927-8EF2-54A31E857664}"/>
              </a:ext>
            </a:extLst>
          </p:cNvPr>
          <p:cNvSpPr>
            <a:spLocks noGrp="1"/>
          </p:cNvSpPr>
          <p:nvPr/>
        </p:nvSpPr>
        <p:spPr>
          <a:xfrm>
            <a:off x="11049000" y="6457950"/>
            <a:ext cx="609600" cy="171450"/>
          </a:xfrm>
          <a:prstGeom prst="rect">
            <a:avLst/>
          </a:prstGeom>
          <a:noFill/>
          <a:ln w="0">
            <a:noFill/>
          </a:ln>
        </p:spPr>
        <p:txBody>
          <a:bodyPr anchor="t">
            <a:normAutofit fontScale="65833" lnSpcReduction="10000"/>
          </a:bodyPr>
          <a:lstStyle/>
          <a:p>
            <a:pPr algn="r">
              <a:defRPr sz="900" b="0">
                <a:solidFill>
                  <a:srgbClr val="606A78"/>
                </a:solidFill>
                <a:latin typeface="Nimbus Sans"/>
                <a:ea typeface="Nimbus Sans"/>
                <a:cs typeface="Nimbus Sans"/>
              </a:defRPr>
            </a:pPr>
            <a:r>
              <a:rPr sz="900" b="0">
                <a:solidFill>
                  <a:srgbClr val="606A78"/>
                </a:solidFill>
                <a:latin typeface="Nimbus Sans"/>
                <a:ea typeface="Nimbus Sans"/>
                <a:cs typeface="Nimbus Sans"/>
              </a:rPr>
              <a:t>13</a:t>
            </a:r>
          </a:p>
        </p:txBody>
      </p:sp>
      <p:sp>
        <p:nvSpPr>
          <p:cNvPr id="7" name="Rectangle 6">
            <a:extLst>
              <a:ext uri="{FF2B5EF4-FFF2-40B4-BE49-F238E27FC236}">
                <a16:creationId xmlns:a16="http://schemas.microsoft.com/office/drawing/2014/main" id="{54DA3F75-59B0-4D56-B93E-F553A450D59E}"/>
              </a:ext>
            </a:extLst>
          </p:cNvPr>
          <p:cNvSpPr>
            <a:spLocks noGrp="1"/>
          </p:cNvSpPr>
          <p:nvPr/>
        </p:nvSpPr>
        <p:spPr>
          <a:xfrm>
            <a:off x="666750" y="1581150"/>
            <a:ext cx="2000250" cy="361950"/>
          </a:xfrm>
          <a:prstGeom prst="rect">
            <a:avLst/>
          </a:prstGeom>
          <a:noFill/>
          <a:ln w="0">
            <a:noFill/>
          </a:ln>
        </p:spPr>
        <p:txBody>
          <a:bodyPr anchor="t">
            <a:normAutofit/>
          </a:bodyPr>
          <a:lstStyle/>
          <a:p>
            <a:pPr algn="l">
              <a:defRPr sz="1350" b="1">
                <a:solidFill>
                  <a:srgbClr val="F3A321"/>
                </a:solidFill>
                <a:latin typeface="Nimbus Sans"/>
                <a:ea typeface="Nimbus Sans"/>
                <a:cs typeface="Nimbus Sans"/>
              </a:defRPr>
            </a:pPr>
            <a:r>
              <a:rPr sz="1350" b="1">
                <a:solidFill>
                  <a:srgbClr val="F3A321"/>
                </a:solidFill>
                <a:latin typeface="Nimbus Sans"/>
                <a:ea typeface="Nimbus Sans"/>
                <a:cs typeface="Nimbus Sans"/>
              </a:rPr>
              <a:t>ARVIN</a:t>
            </a:r>
          </a:p>
        </p:txBody>
      </p:sp>
      <p:sp>
        <p:nvSpPr>
          <p:cNvPr id="8" name="Rectangle 7">
            <a:extLst>
              <a:ext uri="{FF2B5EF4-FFF2-40B4-BE49-F238E27FC236}">
                <a16:creationId xmlns:a16="http://schemas.microsoft.com/office/drawing/2014/main" id="{ECA840E3-3E15-49C2-B0C2-4CFA5A916599}"/>
              </a:ext>
            </a:extLst>
          </p:cNvPr>
          <p:cNvSpPr>
            <a:spLocks noGrp="1"/>
          </p:cNvSpPr>
          <p:nvPr/>
        </p:nvSpPr>
        <p:spPr>
          <a:xfrm>
            <a:off x="666750" y="2019300"/>
            <a:ext cx="4286250" cy="457200"/>
          </a:xfrm>
          <a:prstGeom prst="rect">
            <a:avLst/>
          </a:prstGeom>
          <a:noFill/>
          <a:ln w="0">
            <a:noFill/>
          </a:ln>
        </p:spPr>
        <p:txBody>
          <a:bodyPr anchor="t">
            <a:normAutofit/>
          </a:bodyPr>
          <a:lstStyle/>
          <a:p>
            <a:pPr algn="l">
              <a:defRPr sz="2250" b="1">
                <a:solidFill>
                  <a:srgbClr val="202A63"/>
                </a:solidFill>
                <a:latin typeface="Nimbus Sans"/>
                <a:ea typeface="Nimbus Sans"/>
                <a:cs typeface="Nimbus Sans"/>
              </a:defRPr>
            </a:pPr>
            <a:r>
              <a:rPr sz="2250" b="1">
                <a:solidFill>
                  <a:srgbClr val="202A63"/>
                </a:solidFill>
                <a:latin typeface="Nimbus Sans"/>
                <a:ea typeface="Nimbus Sans"/>
                <a:cs typeface="Nimbus Sans"/>
              </a:rPr>
              <a:t>Data Cleanup</a:t>
            </a:r>
          </a:p>
        </p:txBody>
      </p:sp>
      <p:sp>
        <p:nvSpPr>
          <p:cNvPr id="9" name="Rectangle 8">
            <a:extLst>
              <a:ext uri="{FF2B5EF4-FFF2-40B4-BE49-F238E27FC236}">
                <a16:creationId xmlns:a16="http://schemas.microsoft.com/office/drawing/2014/main" id="{231D5003-A837-404B-942A-23E5B072FD57}"/>
              </a:ext>
            </a:extLst>
          </p:cNvPr>
          <p:cNvSpPr>
            <a:spLocks noGrp="1"/>
          </p:cNvSpPr>
          <p:nvPr/>
        </p:nvSpPr>
        <p:spPr>
          <a:xfrm>
            <a:off x="666750" y="2724150"/>
            <a:ext cx="4667250" cy="2381250"/>
          </a:xfrm>
          <a:prstGeom prst="rect">
            <a:avLst/>
          </a:prstGeom>
          <a:noFill/>
          <a:ln w="0">
            <a:noFill/>
          </a:ln>
        </p:spPr>
        <p:txBody>
          <a:bodyPr anchor="t">
            <a:normAutofit/>
          </a:bodyPr>
          <a:lstStyle/>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1. Load and inspect the raw data</a:t>
            </a: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2. Check missing values and repeated IDs</a:t>
            </a: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3. Separate unrated listings</a:t>
            </a: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4. Flag reviewer-count outliers</a:t>
            </a: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5. Validate and save the cleaned CSV</a:t>
            </a:r>
          </a:p>
        </p:txBody>
      </p:sp>
      <p:sp>
        <p:nvSpPr>
          <p:cNvPr id="10" name="Rectangle 9">
            <a:extLst>
              <a:ext uri="{FF2B5EF4-FFF2-40B4-BE49-F238E27FC236}">
                <a16:creationId xmlns:a16="http://schemas.microsoft.com/office/drawing/2014/main" id="{5FB3D190-028B-4B9C-ADB8-EDBEC36530F0}"/>
              </a:ext>
            </a:extLst>
          </p:cNvPr>
          <p:cNvSpPr>
            <a:spLocks noGrp="1"/>
          </p:cNvSpPr>
          <p:nvPr/>
        </p:nvSpPr>
        <p:spPr>
          <a:xfrm>
            <a:off x="5962650" y="1524000"/>
            <a:ext cx="38100" cy="4000500"/>
          </a:xfrm>
          <a:prstGeom prst="rect">
            <a:avLst/>
          </a:prstGeom>
          <a:solidFill>
            <a:srgbClr val="D5DAE1"/>
          </a:solidFill>
          <a:ln w="0">
            <a:noFill/>
          </a:ln>
        </p:spPr>
      </p:sp>
      <p:sp>
        <p:nvSpPr>
          <p:cNvPr id="11" name="Rectangle 10">
            <a:extLst>
              <a:ext uri="{FF2B5EF4-FFF2-40B4-BE49-F238E27FC236}">
                <a16:creationId xmlns:a16="http://schemas.microsoft.com/office/drawing/2014/main" id="{68CBD83A-3329-44A5-B215-116C9720973B}"/>
              </a:ext>
            </a:extLst>
          </p:cNvPr>
          <p:cNvSpPr>
            <a:spLocks noGrp="1"/>
          </p:cNvSpPr>
          <p:nvPr/>
        </p:nvSpPr>
        <p:spPr>
          <a:xfrm>
            <a:off x="6477000" y="1581150"/>
            <a:ext cx="2000250" cy="361950"/>
          </a:xfrm>
          <a:prstGeom prst="rect">
            <a:avLst/>
          </a:prstGeom>
          <a:noFill/>
          <a:ln w="0">
            <a:noFill/>
          </a:ln>
        </p:spPr>
        <p:txBody>
          <a:bodyPr anchor="t">
            <a:normAutofit/>
          </a:bodyPr>
          <a:lstStyle/>
          <a:p>
            <a:pPr algn="l">
              <a:defRPr sz="1350" b="1">
                <a:solidFill>
                  <a:srgbClr val="1769AA"/>
                </a:solidFill>
                <a:latin typeface="Nimbus Sans"/>
                <a:ea typeface="Nimbus Sans"/>
                <a:cs typeface="Nimbus Sans"/>
              </a:defRPr>
            </a:pPr>
            <a:r>
              <a:rPr sz="1350" b="1">
                <a:solidFill>
                  <a:srgbClr val="1769AA"/>
                </a:solidFill>
                <a:latin typeface="Nimbus Sans"/>
                <a:ea typeface="Nimbus Sans"/>
                <a:cs typeface="Nimbus Sans"/>
              </a:rPr>
              <a:t>ERIKA</a:t>
            </a:r>
          </a:p>
        </p:txBody>
      </p:sp>
      <p:sp>
        <p:nvSpPr>
          <p:cNvPr id="12" name="Rectangle 11">
            <a:extLst>
              <a:ext uri="{FF2B5EF4-FFF2-40B4-BE49-F238E27FC236}">
                <a16:creationId xmlns:a16="http://schemas.microsoft.com/office/drawing/2014/main" id="{E5FAB8DE-5B39-4D8B-AB3F-E0B376299634}"/>
              </a:ext>
            </a:extLst>
          </p:cNvPr>
          <p:cNvSpPr>
            <a:spLocks noGrp="1"/>
          </p:cNvSpPr>
          <p:nvPr/>
        </p:nvSpPr>
        <p:spPr>
          <a:xfrm>
            <a:off x="6477000" y="2019300"/>
            <a:ext cx="4572000" cy="457200"/>
          </a:xfrm>
          <a:prstGeom prst="rect">
            <a:avLst/>
          </a:prstGeom>
          <a:noFill/>
          <a:ln w="0">
            <a:noFill/>
          </a:ln>
        </p:spPr>
        <p:txBody>
          <a:bodyPr anchor="t">
            <a:normAutofit/>
          </a:bodyPr>
          <a:lstStyle/>
          <a:p>
            <a:pPr algn="l">
              <a:defRPr sz="2250" b="1">
                <a:solidFill>
                  <a:srgbClr val="202A63"/>
                </a:solidFill>
                <a:latin typeface="Nimbus Sans"/>
                <a:ea typeface="Nimbus Sans"/>
                <a:cs typeface="Nimbus Sans"/>
              </a:defRPr>
            </a:pPr>
            <a:r>
              <a:rPr sz="2250" b="1">
                <a:solidFill>
                  <a:srgbClr val="202A63"/>
                </a:solidFill>
                <a:latin typeface="Nimbus Sans"/>
                <a:ea typeface="Nimbus Sans"/>
                <a:cs typeface="Nimbus Sans"/>
              </a:rPr>
              <a:t>Data Analysis and EDA</a:t>
            </a:r>
          </a:p>
        </p:txBody>
      </p:sp>
      <p:sp>
        <p:nvSpPr>
          <p:cNvPr id="13" name="Rectangle 12">
            <a:extLst>
              <a:ext uri="{FF2B5EF4-FFF2-40B4-BE49-F238E27FC236}">
                <a16:creationId xmlns:a16="http://schemas.microsoft.com/office/drawing/2014/main" id="{88CA60DB-1ACD-4CD5-9133-364C2A216577}"/>
              </a:ext>
            </a:extLst>
          </p:cNvPr>
          <p:cNvSpPr>
            <a:spLocks noGrp="1"/>
          </p:cNvSpPr>
          <p:nvPr/>
        </p:nvSpPr>
        <p:spPr>
          <a:xfrm>
            <a:off x="6477000" y="2724150"/>
            <a:ext cx="4667250" cy="2381250"/>
          </a:xfrm>
          <a:prstGeom prst="rect">
            <a:avLst/>
          </a:prstGeom>
          <a:noFill/>
          <a:ln w="0">
            <a:noFill/>
          </a:ln>
        </p:spPr>
        <p:txBody>
          <a:bodyPr anchor="t">
            <a:normAutofit/>
          </a:bodyPr>
          <a:lstStyle/>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1. Load and segment the cleaned data</a:t>
            </a: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2. Build grouped and pivot summaries</a:t>
            </a: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3. Produce the six charts</a:t>
            </a: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4. Apply the Spearman tests</a:t>
            </a:r>
          </a:p>
          <a:p>
            <a:pPr algn="l">
              <a:defRPr sz="1575" b="0">
                <a:solidFill>
                  <a:srgbClr val="1E2633"/>
                </a:solidFill>
                <a:latin typeface="Nimbus Sans"/>
                <a:ea typeface="Nimbus Sans"/>
                <a:cs typeface="Nimbus Sans"/>
              </a:defRPr>
            </a:pPr>
            <a:r>
              <a:rPr sz="1575" b="0">
                <a:solidFill>
                  <a:srgbClr val="1E2633"/>
                </a:solidFill>
                <a:latin typeface="Nimbus Sans"/>
                <a:ea typeface="Nimbus Sans"/>
                <a:cs typeface="Nimbus Sans"/>
              </a:rPr>
              <a:t>5. Explain findings and limitations</a:t>
            </a:r>
          </a:p>
        </p:txBody>
      </p:sp>
    </p:spTree>
    <p:extLst>
      <p:ext uri="{BB962C8B-B14F-4D97-AF65-F5344CB8AC3E}">
        <p14:creationId xmlns:p14="http://schemas.microsoft.com/office/powerpoint/2010/main" val="165361267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2434</Words>
  <Application>Microsoft Office PowerPoint</Application>
  <DocSecurity>0</DocSecurity>
  <PresentationFormat>Widescreen</PresentationFormat>
  <Paragraphs>297</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Calibri</vt:lpstr>
      <vt:lpstr>Nimbus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 Erika Dela Cruz</cp:lastModifiedBy>
  <cp:revision>1</cp:revision>
  <dcterms:created xsi:type="dcterms:W3CDTF">2026-09-09T12:25:48Z</dcterms:created>
  <dcterms:modified xsi:type="dcterms:W3CDTF">2026-09-10T12:14:16Z</dcterms:modified>
</cp:coreProperties>
</file>